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57" r:id="rId9"/>
    <p:sldId id="258" r:id="rId10"/>
    <p:sldId id="260" r:id="rId11"/>
    <p:sldId id="259" r:id="rId12"/>
    <p:sldId id="261" r:id="rId13"/>
    <p:sldId id="262" r:id="rId14"/>
    <p:sldId id="263" r:id="rId15"/>
    <p:sldId id="264" r:id="rId16"/>
    <p:sldId id="266" r:id="rId17"/>
    <p:sldId id="267" r:id="rId18"/>
    <p:sldId id="26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73800" autoAdjust="0"/>
  </p:normalViewPr>
  <p:slideViewPr>
    <p:cSldViewPr snapToGrid="0">
      <p:cViewPr varScale="1">
        <p:scale>
          <a:sx n="55" d="100"/>
          <a:sy n="55" d="100"/>
        </p:scale>
        <p:origin x="106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79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58832-F0B7-4D1A-A154-376B7CEC0B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34E1D-3C0B-4B3B-8F59-5F453A203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859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俯视： </a:t>
            </a:r>
            <a:r>
              <a:rPr lang="en-US" altLang="zh-CN" dirty="0" err="1"/>
              <a:t>zview</a:t>
            </a:r>
            <a:r>
              <a:rPr lang="en-US" altLang="zh-CN" dirty="0"/>
              <a:t>=(0,1,0), </a:t>
            </a:r>
            <a:r>
              <a:rPr lang="en-US" altLang="zh-CN" dirty="0" err="1"/>
              <a:t>xview</a:t>
            </a:r>
            <a:r>
              <a:rPr lang="en-US" altLang="zh-CN" dirty="0"/>
              <a:t>=(0,0,-1)x(0,1,0)=(1,0,0), </a:t>
            </a:r>
            <a:r>
              <a:rPr lang="en-US" altLang="zh-CN" dirty="0" err="1"/>
              <a:t>yview</a:t>
            </a:r>
            <a:r>
              <a:rPr lang="en-US" altLang="zh-CN" dirty="0"/>
              <a:t>=(0,1,0)x(1,0,0)=(0,0,-1)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34E1D-3C0B-4B3B-8F59-5F453A2034C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18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FEC30-6368-43C0-AFC2-60E2DD4B9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FFCF45-FCED-477E-B773-0B44CC981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748651-2CD2-4ECB-B003-C304A9F0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50BD0-FC87-419E-AE36-D372FB67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869B1-E971-4FB2-B108-E3FCCDFA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60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61E6C-E598-4E22-8629-142506514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ED806-7108-4AF1-8003-4F01637C9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B07DE-6BA6-427D-AE2C-2769FBC3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50B0F5-EE13-4BCB-B86B-598EF736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CE39A0-7241-4B4F-A38B-23AAD795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97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B0077-C0FC-4670-9D4E-448CF6D9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50BAF5-EF17-49A0-90B3-D94509A8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C0EF0-63C9-4483-B22B-2413A3BC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00FC88-F109-41EC-B878-06664B7A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08DE4D-0C48-4154-8DEE-7B9461B3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2C4A7-F069-4EF2-BDE2-4ED7BC13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0B35CD-9AB4-498E-965F-08F501D38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393280-F217-408D-B8E8-B816948C1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EAD45D-9930-48E6-A1A1-652A64C6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B8CEA6-5F4D-4F44-9839-75D5E33EF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4FA80B-C6DE-49CC-AF67-A3E8AD91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785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78B23-AF39-487B-90BF-E00742005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F2FC9A-CAAF-4BF1-9175-445E08840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8C4BB9-45E3-4466-B90A-6AF267DC7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1ABD5F-A115-4158-A997-C8D45CF55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C931D3-A00E-4D27-AABC-7BA4D4D8F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339D4D-F2E3-4355-8D35-3C8EC002D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664727-50CD-4F56-B4BA-D1A89D9E6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E85D3A-C113-41FB-A866-D43F83FB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20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9B344-5E46-43B4-873D-84BDDFF4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098439-E006-43A0-A35F-9FB56AB8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5CAFB8-C5F4-4127-937E-D600A239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7EB0B5-C060-43D9-9174-0A9E8922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41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D7FA20-302D-4CAE-B3FB-DEEF04A2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7FE3E2-DFBF-4A9B-993D-0ECD7FA87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6C3050-A0FB-41BA-ACDE-722A4755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64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04A61-8CDE-4DC2-B569-9091F8CF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BE7CEB-88F6-46B1-89DA-27C3304F2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7569D-C6D9-4CCE-B716-CF3BD0CFD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3003B6-E9CE-47FA-895F-361C98F4E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8EDA93-43EA-43C8-B104-08972359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485636-906D-4AFB-AAA2-7663945E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86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E2514-CF63-4107-93D7-20B2AB28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0D42D4-793B-4CEF-80C9-01991AACB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3FE994-6BA3-4AA7-BDD7-32B890783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EC898A-2238-4F1B-8075-E746823EC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BC37F2-DBFD-499F-870D-EB8EE310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3A87C-3A41-4DF2-95A7-B2809101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96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71AD1-6FAD-4B3F-A687-3377649F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87DC28-3F4E-4A1A-9EF1-096AE9B21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D049A3-419C-4BBA-BFB5-32A9C5CF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0A7F2-A8C1-4948-925C-004EA45B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6527B-6505-436A-B574-E0FB0F28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64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2B10DB-8E9E-49BD-BD98-23DF8D8A0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287F95-6092-4E8A-98A0-C70B9FACD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6E7E7-2B2E-4A4B-930F-125C314C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6C686-3BF4-4BA0-8D33-7843814D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C28AE5-E4D4-4363-AC29-FBEA9334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485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14DC25-06F6-4CFB-AECE-BA50109E6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8EA427-60BA-4CCC-920A-9C47FB6B5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D4277-C062-472B-8D68-5BDE8763D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5F133-5F44-480F-92FE-C954F1B463EE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F810BF-81AE-40A1-82C6-360A63E94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C6F7C-E4AC-4298-BF12-B4269A3E9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CF650-4F6B-48AF-BBD8-923A0544D9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54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8407E-DA7D-498D-8B52-5794F300F0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计算机图形学实验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D1F318-A3B6-4A73-B9D4-DF0C22B53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/>
              <a:t>2022.11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3002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FDDB1A-9B34-4781-8172-A19CB7A48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213" y="271857"/>
            <a:ext cx="8638095" cy="6314286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3BF5F0B-8847-4021-8869-46E3F0331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81" y="71389"/>
            <a:ext cx="6204617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程序结构</a:t>
            </a: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0C3C1E59-9F81-48CF-9583-62713915F0E2}"/>
              </a:ext>
            </a:extLst>
          </p:cNvPr>
          <p:cNvSpPr/>
          <p:nvPr/>
        </p:nvSpPr>
        <p:spPr>
          <a:xfrm>
            <a:off x="2649894" y="2216020"/>
            <a:ext cx="389288" cy="1973425"/>
          </a:xfrm>
          <a:prstGeom prst="leftBrace">
            <a:avLst/>
          </a:prstGeom>
          <a:ln w="63500" cap="flat">
            <a:solidFill>
              <a:srgbClr val="FF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12D9703B-9C4C-4E5A-A3C3-D0FC9A9E5861}"/>
              </a:ext>
            </a:extLst>
          </p:cNvPr>
          <p:cNvSpPr/>
          <p:nvPr/>
        </p:nvSpPr>
        <p:spPr>
          <a:xfrm>
            <a:off x="2647296" y="772886"/>
            <a:ext cx="389288" cy="1130560"/>
          </a:xfrm>
          <a:prstGeom prst="leftBrace">
            <a:avLst/>
          </a:prstGeom>
          <a:ln w="63500" cap="flat">
            <a:solidFill>
              <a:srgbClr val="FF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388938EE-6900-443F-A19B-34E2C875020A}"/>
              </a:ext>
            </a:extLst>
          </p:cNvPr>
          <p:cNvSpPr/>
          <p:nvPr/>
        </p:nvSpPr>
        <p:spPr>
          <a:xfrm>
            <a:off x="2647296" y="4502019"/>
            <a:ext cx="389288" cy="1973425"/>
          </a:xfrm>
          <a:prstGeom prst="leftBrace">
            <a:avLst/>
          </a:prstGeom>
          <a:ln w="63500" cap="flat">
            <a:solidFill>
              <a:srgbClr val="FF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C0DBDE-9E17-4B9F-B330-EBB8DD6F106F}"/>
              </a:ext>
            </a:extLst>
          </p:cNvPr>
          <p:cNvSpPr txBox="1"/>
          <p:nvPr/>
        </p:nvSpPr>
        <p:spPr>
          <a:xfrm>
            <a:off x="911802" y="5165565"/>
            <a:ext cx="167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程序入口</a:t>
            </a:r>
            <a:endParaRPr lang="en-US" altLang="zh-CN" dirty="0"/>
          </a:p>
          <a:p>
            <a:pPr algn="ctr"/>
            <a:r>
              <a:rPr lang="en-US" altLang="zh-CN" dirty="0"/>
              <a:t>main</a:t>
            </a:r>
            <a:r>
              <a:rPr lang="zh-CN" altLang="en-US" dirty="0"/>
              <a:t>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CCB5B1-93D7-40BD-A265-3941FF9A804B}"/>
              </a:ext>
            </a:extLst>
          </p:cNvPr>
          <p:cNvSpPr txBox="1"/>
          <p:nvPr/>
        </p:nvSpPr>
        <p:spPr>
          <a:xfrm>
            <a:off x="907256" y="3018066"/>
            <a:ext cx="167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显示函数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70F22B-E589-44EA-A6E9-346F83B03646}"/>
              </a:ext>
            </a:extLst>
          </p:cNvPr>
          <p:cNvSpPr txBox="1"/>
          <p:nvPr/>
        </p:nvSpPr>
        <p:spPr>
          <a:xfrm>
            <a:off x="907256" y="1153500"/>
            <a:ext cx="167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初始化函数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4419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C2F6E621-CC94-4436-884F-8714A5163F2C}"/>
              </a:ext>
            </a:extLst>
          </p:cNvPr>
          <p:cNvSpPr txBox="1">
            <a:spLocks/>
          </p:cNvSpPr>
          <p:nvPr/>
        </p:nvSpPr>
        <p:spPr>
          <a:xfrm>
            <a:off x="317481" y="71389"/>
            <a:ext cx="62046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程序结构 </a:t>
            </a:r>
            <a:r>
              <a:rPr lang="en-US" altLang="zh-CN" sz="3600" b="1" dirty="0"/>
              <a:t>– main</a:t>
            </a:r>
            <a:r>
              <a:rPr lang="zh-CN" altLang="en-US" sz="3600" b="1" dirty="0"/>
              <a:t>函数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ED8DA6-2A74-44D9-A918-0B4AB3B48C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442"/>
          <a:stretch/>
        </p:blipFill>
        <p:spPr>
          <a:xfrm>
            <a:off x="373368" y="1268963"/>
            <a:ext cx="11445264" cy="289122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F8B2B06-A8E8-4598-848C-0E36269EFAC2}"/>
              </a:ext>
            </a:extLst>
          </p:cNvPr>
          <p:cNvSpPr txBox="1"/>
          <p:nvPr/>
        </p:nvSpPr>
        <p:spPr>
          <a:xfrm>
            <a:off x="485192" y="4413380"/>
            <a:ext cx="110940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glutInit</a:t>
            </a:r>
            <a:r>
              <a:rPr lang="en-US" altLang="zh-CN" dirty="0"/>
              <a:t>()			</a:t>
            </a:r>
            <a:r>
              <a:rPr lang="zh-CN" altLang="en-US" dirty="0"/>
              <a:t>初始化</a:t>
            </a:r>
            <a:r>
              <a:rPr lang="en-US" altLang="zh-CN" dirty="0"/>
              <a:t>GLUT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glutInitDisplayMode</a:t>
            </a:r>
            <a:r>
              <a:rPr lang="en-US" altLang="zh-CN" dirty="0"/>
              <a:t>()		</a:t>
            </a:r>
            <a:r>
              <a:rPr lang="zh-CN" altLang="en-US" dirty="0"/>
              <a:t>设置单缓冲区，</a:t>
            </a:r>
            <a:r>
              <a:rPr lang="en-US" altLang="zh-CN" dirty="0"/>
              <a:t>RGB</a:t>
            </a:r>
            <a:r>
              <a:rPr lang="zh-CN" altLang="en-US" dirty="0"/>
              <a:t>显示模式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glutInitWindowPosition</a:t>
            </a:r>
            <a:r>
              <a:rPr lang="en-US" altLang="zh-CN" dirty="0"/>
              <a:t>()		</a:t>
            </a:r>
            <a:r>
              <a:rPr lang="zh-CN" altLang="en-US" dirty="0"/>
              <a:t>设置程序窗口相对于屏幕左上角的偏移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glutInitWindowSize</a:t>
            </a:r>
            <a:r>
              <a:rPr lang="en-US" altLang="zh-CN" dirty="0"/>
              <a:t>()		</a:t>
            </a:r>
            <a:r>
              <a:rPr lang="zh-CN" altLang="en-US" dirty="0"/>
              <a:t>设置程序窗口大小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glutCreateWindow</a:t>
            </a:r>
            <a:r>
              <a:rPr lang="en-US" altLang="zh-CN" dirty="0"/>
              <a:t>()		</a:t>
            </a:r>
            <a:r>
              <a:rPr lang="zh-CN" altLang="en-US" dirty="0"/>
              <a:t>创建窗口，标题为传入字符串</a:t>
            </a:r>
          </a:p>
        </p:txBody>
      </p:sp>
    </p:spTree>
    <p:extLst>
      <p:ext uri="{BB962C8B-B14F-4D97-AF65-F5344CB8AC3E}">
        <p14:creationId xmlns:p14="http://schemas.microsoft.com/office/powerpoint/2010/main" val="384519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C2F6E621-CC94-4436-884F-8714A5163F2C}"/>
              </a:ext>
            </a:extLst>
          </p:cNvPr>
          <p:cNvSpPr txBox="1">
            <a:spLocks/>
          </p:cNvSpPr>
          <p:nvPr/>
        </p:nvSpPr>
        <p:spPr>
          <a:xfrm>
            <a:off x="317481" y="71389"/>
            <a:ext cx="62046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程序结构 </a:t>
            </a:r>
            <a:r>
              <a:rPr lang="en-US" altLang="zh-CN" sz="3600" b="1" dirty="0"/>
              <a:t>– main</a:t>
            </a:r>
            <a:r>
              <a:rPr lang="zh-CN" altLang="en-US" sz="3600" b="1" dirty="0"/>
              <a:t>函数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ED8DA6-2A74-44D9-A918-0B4AB3B48C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442"/>
          <a:stretch/>
        </p:blipFill>
        <p:spPr>
          <a:xfrm>
            <a:off x="373368" y="1268963"/>
            <a:ext cx="11445264" cy="289122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F8B2B06-A8E8-4598-848C-0E36269EFAC2}"/>
              </a:ext>
            </a:extLst>
          </p:cNvPr>
          <p:cNvSpPr txBox="1"/>
          <p:nvPr/>
        </p:nvSpPr>
        <p:spPr>
          <a:xfrm>
            <a:off x="485192" y="4413380"/>
            <a:ext cx="11094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init</a:t>
            </a:r>
            <a:r>
              <a:rPr lang="en-US" altLang="zh-CN" dirty="0"/>
              <a:t>()				</a:t>
            </a:r>
            <a:r>
              <a:rPr lang="zh-CN" altLang="en-US" dirty="0"/>
              <a:t>对</a:t>
            </a:r>
            <a:r>
              <a:rPr lang="en-US" altLang="zh-CN" dirty="0"/>
              <a:t>GLUT</a:t>
            </a:r>
            <a:r>
              <a:rPr lang="zh-CN" altLang="en-US" dirty="0"/>
              <a:t>默认设置做修改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glutDisplayFunc</a:t>
            </a:r>
            <a:r>
              <a:rPr lang="en-US" altLang="zh-CN" dirty="0"/>
              <a:t>()		</a:t>
            </a:r>
            <a:r>
              <a:rPr lang="zh-CN" altLang="en-US" dirty="0"/>
              <a:t>绑定显示函数，窗口初始化完成后调用传入的函数 </a:t>
            </a:r>
            <a:r>
              <a:rPr lang="en-US" altLang="zh-CN" dirty="0" err="1"/>
              <a:t>lineSegment</a:t>
            </a:r>
            <a:r>
              <a:rPr lang="en-US" altLang="zh-CN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glutMainLoop</a:t>
            </a:r>
            <a:r>
              <a:rPr lang="en-US" altLang="zh-CN" dirty="0"/>
              <a:t>()			</a:t>
            </a:r>
            <a:r>
              <a:rPr lang="zh-CN" altLang="en-US" dirty="0"/>
              <a:t>程序主循环，处理交互任务，在遇到异常或关闭窗口事件时退出程序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298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FDDB1A-9B34-4781-8172-A19CB7A483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057"/>
          <a:stretch/>
        </p:blipFill>
        <p:spPr>
          <a:xfrm>
            <a:off x="390868" y="1294117"/>
            <a:ext cx="11410264" cy="2414029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C2F6E621-CC94-4436-884F-8714A5163F2C}"/>
              </a:ext>
            </a:extLst>
          </p:cNvPr>
          <p:cNvSpPr txBox="1">
            <a:spLocks/>
          </p:cNvSpPr>
          <p:nvPr/>
        </p:nvSpPr>
        <p:spPr>
          <a:xfrm>
            <a:off x="317481" y="71389"/>
            <a:ext cx="62046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程序结构 </a:t>
            </a:r>
            <a:r>
              <a:rPr lang="en-US" altLang="zh-CN" sz="3600" b="1" dirty="0"/>
              <a:t>– </a:t>
            </a:r>
            <a:r>
              <a:rPr lang="zh-CN" altLang="en-US" sz="3600" b="1" dirty="0"/>
              <a:t>初始化函数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F6C486-2835-4C34-8C95-34839C17D3AD}"/>
              </a:ext>
            </a:extLst>
          </p:cNvPr>
          <p:cNvSpPr txBox="1"/>
          <p:nvPr/>
        </p:nvSpPr>
        <p:spPr>
          <a:xfrm>
            <a:off x="485192" y="4413380"/>
            <a:ext cx="11094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glClearColor</a:t>
            </a:r>
            <a:r>
              <a:rPr lang="en-US" altLang="zh-CN" dirty="0"/>
              <a:t>(1,1,1,0)		</a:t>
            </a:r>
            <a:r>
              <a:rPr lang="zh-CN" altLang="en-US" dirty="0"/>
              <a:t>设置显示窗口默认为白色（在需要清除缓冲区时使用的“清除色” 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glMatrixMode</a:t>
            </a:r>
            <a:r>
              <a:rPr lang="en-US" altLang="zh-CN" dirty="0"/>
              <a:t>(GL_PROJECTION)	</a:t>
            </a:r>
            <a:r>
              <a:rPr lang="zh-CN" altLang="en-US" dirty="0"/>
              <a:t>设置当前矩阵操作模式为“投影矩阵”（后续矩阵运算修改投影矩阵）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gluOrtho2D(0,200,0,150)		</a:t>
            </a:r>
            <a:r>
              <a:rPr lang="zh-CN" altLang="en-US" dirty="0"/>
              <a:t>在</a:t>
            </a:r>
            <a:r>
              <a:rPr lang="en-US" altLang="zh-CN" dirty="0"/>
              <a:t>x</a:t>
            </a:r>
            <a:r>
              <a:rPr lang="zh-CN" altLang="en-US" dirty="0"/>
              <a:t>轴</a:t>
            </a:r>
            <a:r>
              <a:rPr lang="en-US" altLang="zh-CN" dirty="0"/>
              <a:t>(0,200)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轴</a:t>
            </a:r>
            <a:r>
              <a:rPr lang="en-US" altLang="zh-CN" dirty="0"/>
              <a:t>(0,150)</a:t>
            </a:r>
            <a:r>
              <a:rPr lang="zh-CN" altLang="en-US" dirty="0"/>
              <a:t>的区域做正交投影（或叫做正平行投影）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35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C2F6E621-CC94-4436-884F-8714A5163F2C}"/>
              </a:ext>
            </a:extLst>
          </p:cNvPr>
          <p:cNvSpPr txBox="1">
            <a:spLocks/>
          </p:cNvSpPr>
          <p:nvPr/>
        </p:nvSpPr>
        <p:spPr>
          <a:xfrm>
            <a:off x="317481" y="71389"/>
            <a:ext cx="62046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程序结构 </a:t>
            </a:r>
            <a:r>
              <a:rPr lang="en-US" altLang="zh-CN" sz="3600" b="1" dirty="0"/>
              <a:t>– </a:t>
            </a:r>
            <a:r>
              <a:rPr lang="zh-CN" altLang="en-US" sz="3600" b="1" dirty="0"/>
              <a:t>显示函数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F6C486-2835-4C34-8C95-34839C17D3AD}"/>
              </a:ext>
            </a:extLst>
          </p:cNvPr>
          <p:cNvSpPr txBox="1"/>
          <p:nvPr/>
        </p:nvSpPr>
        <p:spPr>
          <a:xfrm>
            <a:off x="485192" y="4413380"/>
            <a:ext cx="110940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glClear</a:t>
            </a:r>
            <a:r>
              <a:rPr lang="en-US" altLang="zh-CN" dirty="0"/>
              <a:t>(GL_COLOR_BUFFER_BIT)	</a:t>
            </a:r>
            <a:r>
              <a:rPr lang="zh-CN" altLang="en-US" dirty="0"/>
              <a:t>用之前设置的“清除色”覆盖缓冲区（用白色清除）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glColor3f(0,0.4,0.2)		</a:t>
            </a:r>
            <a:r>
              <a:rPr lang="zh-CN" altLang="en-US" dirty="0"/>
              <a:t>设置画笔颜色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glBegin</a:t>
            </a:r>
            <a:r>
              <a:rPr lang="en-US" altLang="zh-CN" dirty="0"/>
              <a:t>(GL_LINES) … </a:t>
            </a:r>
            <a:r>
              <a:rPr lang="en-US" altLang="zh-CN" dirty="0" err="1"/>
              <a:t>glEnd</a:t>
            </a:r>
            <a:r>
              <a:rPr lang="en-US" altLang="zh-CN" dirty="0"/>
              <a:t>()	</a:t>
            </a:r>
            <a:r>
              <a:rPr lang="zh-CN" altLang="en-US" dirty="0"/>
              <a:t>绘制线条（</a:t>
            </a:r>
            <a:r>
              <a:rPr lang="en-US" altLang="zh-CN" dirty="0"/>
              <a:t>GL_POINTS </a:t>
            </a:r>
            <a:r>
              <a:rPr lang="zh-CN" altLang="en-US" dirty="0"/>
              <a:t>绘制点、</a:t>
            </a:r>
            <a:r>
              <a:rPr lang="en-US" altLang="zh-CN" dirty="0"/>
              <a:t>GL_TRIANGLES </a:t>
            </a:r>
            <a:r>
              <a:rPr lang="zh-CN" altLang="en-US" dirty="0"/>
              <a:t>绘制三角形）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glVertex2i(</a:t>
            </a:r>
            <a:r>
              <a:rPr lang="en-US" altLang="zh-CN" dirty="0" err="1"/>
              <a:t>x,y</a:t>
            </a:r>
            <a:r>
              <a:rPr lang="en-US" altLang="zh-CN" dirty="0"/>
              <a:t>)			</a:t>
            </a:r>
            <a:r>
              <a:rPr lang="zh-CN" altLang="en-US" dirty="0"/>
              <a:t>设置线条端点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glFlush</a:t>
            </a:r>
            <a:r>
              <a:rPr lang="en-US" altLang="zh-CN" dirty="0"/>
              <a:t>()			</a:t>
            </a:r>
            <a:r>
              <a:rPr lang="zh-CN" altLang="en-US" dirty="0"/>
              <a:t>刷新缓冲区（显示绘图）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330E594-7BA7-49C7-A1A8-B11DD3CE8E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090" b="36775"/>
          <a:stretch/>
        </p:blipFill>
        <p:spPr>
          <a:xfrm>
            <a:off x="372183" y="1196905"/>
            <a:ext cx="11320116" cy="282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6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2035D-49D9-B5A1-861E-E2A78967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846649"/>
            <a:ext cx="10515600" cy="4351338"/>
          </a:xfrm>
        </p:spPr>
        <p:txBody>
          <a:bodyPr/>
          <a:lstStyle/>
          <a:p>
            <a:r>
              <a:rPr lang="zh-CN" altLang="en-US" dirty="0"/>
              <a:t>摘自实验指导书实验四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970980-B62E-4037-536F-A55BF875D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87" y="1779179"/>
            <a:ext cx="1012507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投影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F57BC6-DA64-4DA1-80A8-FBDE5C2E8143}"/>
              </a:ext>
            </a:extLst>
          </p:cNvPr>
          <p:cNvSpPr txBox="1"/>
          <p:nvPr/>
        </p:nvSpPr>
        <p:spPr>
          <a:xfrm>
            <a:off x="838201" y="1317072"/>
            <a:ext cx="10515600" cy="9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2060"/>
                </a:solidFill>
              </a:rPr>
              <a:t>正平行投影（正交投影）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C00000"/>
                </a:solidFill>
              </a:rPr>
              <a:t>透视投影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CA7BFC1-648D-4ECC-9B25-E0D1929DA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45" y="2456543"/>
            <a:ext cx="5113655" cy="266636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8383849-3B96-4633-B102-52CB5D858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73990"/>
            <a:ext cx="4916648" cy="279826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AA88319-1EBE-4DBC-9C6D-53612E61E54C}"/>
              </a:ext>
            </a:extLst>
          </p:cNvPr>
          <p:cNvSpPr txBox="1"/>
          <p:nvPr/>
        </p:nvSpPr>
        <p:spPr>
          <a:xfrm>
            <a:off x="838200" y="5372256"/>
            <a:ext cx="4916647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</a:rPr>
              <a:t>正平行投影</a:t>
            </a:r>
            <a:endParaRPr lang="en-US" altLang="zh-CN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</a:rPr>
              <a:t>长方体裁剪空间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773885-B70F-4FA3-ACAA-FA21BE675DE4}"/>
              </a:ext>
            </a:extLst>
          </p:cNvPr>
          <p:cNvSpPr txBox="1"/>
          <p:nvPr/>
        </p:nvSpPr>
        <p:spPr>
          <a:xfrm>
            <a:off x="6437153" y="5372256"/>
            <a:ext cx="4916647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透视投影</a:t>
            </a:r>
            <a:endParaRPr lang="en-US" altLang="zh-CN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平截头体裁剪空间</a:t>
            </a:r>
          </a:p>
        </p:txBody>
      </p:sp>
      <p:sp>
        <p:nvSpPr>
          <p:cNvPr id="20" name="箭头: 虚尾 19">
            <a:extLst>
              <a:ext uri="{FF2B5EF4-FFF2-40B4-BE49-F238E27FC236}">
                <a16:creationId xmlns:a16="http://schemas.microsoft.com/office/drawing/2014/main" id="{9E03CB5E-760B-46D2-8640-EBB6DBB89BC5}"/>
              </a:ext>
            </a:extLst>
          </p:cNvPr>
          <p:cNvSpPr/>
          <p:nvPr/>
        </p:nvSpPr>
        <p:spPr>
          <a:xfrm>
            <a:off x="4085438" y="1317072"/>
            <a:ext cx="4655889" cy="968791"/>
          </a:xfrm>
          <a:prstGeom prst="striped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裁剪空间内的三维对象投影到裁剪窗口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AA6B8D-BDAA-4F25-80E4-2C7A87013894}"/>
              </a:ext>
            </a:extLst>
          </p:cNvPr>
          <p:cNvSpPr txBox="1"/>
          <p:nvPr/>
        </p:nvSpPr>
        <p:spPr>
          <a:xfrm>
            <a:off x="8895476" y="1601412"/>
            <a:ext cx="1090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图像</a:t>
            </a:r>
          </a:p>
        </p:txBody>
      </p:sp>
    </p:spTree>
    <p:extLst>
      <p:ext uri="{BB962C8B-B14F-4D97-AF65-F5344CB8AC3E}">
        <p14:creationId xmlns:p14="http://schemas.microsoft.com/office/powerpoint/2010/main" val="2058321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投影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F57BC6-DA64-4DA1-80A8-FBDE5C2E8143}"/>
              </a:ext>
            </a:extLst>
          </p:cNvPr>
          <p:cNvSpPr txBox="1"/>
          <p:nvPr/>
        </p:nvSpPr>
        <p:spPr>
          <a:xfrm>
            <a:off x="838201" y="1317072"/>
            <a:ext cx="10515600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正平行投影（正交投影）</a:t>
            </a:r>
            <a:endParaRPr lang="en-US" altLang="zh-CN" sz="2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C407DD8-4FB7-4FB6-9667-9F63B192D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5013"/>
            <a:ext cx="12192000" cy="12402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EC47D9F-85F8-47B7-9A72-79BB72862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823" y="538082"/>
            <a:ext cx="4916648" cy="2798266"/>
          </a:xfrm>
          <a:prstGeom prst="rect">
            <a:avLst/>
          </a:prstGeom>
        </p:spPr>
      </p:pic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BD52D609-5F21-4DF9-B9E7-392D6B9A0420}"/>
              </a:ext>
            </a:extLst>
          </p:cNvPr>
          <p:cNvSpPr/>
          <p:nvPr/>
        </p:nvSpPr>
        <p:spPr>
          <a:xfrm>
            <a:off x="2248678" y="3537326"/>
            <a:ext cx="2584579" cy="689927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轴范围</a:t>
            </a:r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5AF2E79D-144E-43E9-B605-D2A1FEDA84CB}"/>
              </a:ext>
            </a:extLst>
          </p:cNvPr>
          <p:cNvSpPr/>
          <p:nvPr/>
        </p:nvSpPr>
        <p:spPr>
          <a:xfrm>
            <a:off x="5442858" y="3521653"/>
            <a:ext cx="2584579" cy="689927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Y</a:t>
            </a:r>
            <a:r>
              <a:rPr lang="zh-CN" altLang="en-US" dirty="0">
                <a:solidFill>
                  <a:schemeClr val="tx1"/>
                </a:solidFill>
              </a:rPr>
              <a:t>轴范围</a:t>
            </a:r>
          </a:p>
        </p:txBody>
      </p:sp>
      <p:sp>
        <p:nvSpPr>
          <p:cNvPr id="19" name="箭头: 左右 18">
            <a:extLst>
              <a:ext uri="{FF2B5EF4-FFF2-40B4-BE49-F238E27FC236}">
                <a16:creationId xmlns:a16="http://schemas.microsoft.com/office/drawing/2014/main" id="{5E0DDD0E-4A59-4CF0-9D50-910D8A80BC5D}"/>
              </a:ext>
            </a:extLst>
          </p:cNvPr>
          <p:cNvSpPr/>
          <p:nvPr/>
        </p:nvSpPr>
        <p:spPr>
          <a:xfrm>
            <a:off x="8661773" y="3537325"/>
            <a:ext cx="2584579" cy="689927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Z</a:t>
            </a:r>
            <a:r>
              <a:rPr lang="zh-CN" altLang="en-US" dirty="0">
                <a:solidFill>
                  <a:schemeClr val="tx1"/>
                </a:solidFill>
              </a:rPr>
              <a:t>轴范围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A0CF70-1DBC-45DF-8254-B9F4DAE894E8}"/>
              </a:ext>
            </a:extLst>
          </p:cNvPr>
          <p:cNvSpPr txBox="1"/>
          <p:nvPr/>
        </p:nvSpPr>
        <p:spPr>
          <a:xfrm>
            <a:off x="838200" y="574004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gluOrtho2D(-100, 100, -100, 100)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glOrtho</a:t>
            </a:r>
            <a:r>
              <a:rPr lang="en-US" altLang="zh-CN" dirty="0">
                <a:latin typeface="Consolas" panose="020B0609020204030204" pitchFamily="49" charset="0"/>
              </a:rPr>
              <a:t>(-100, 100, -100, 100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, -1, 1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92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投影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F57BC6-DA64-4DA1-80A8-FBDE5C2E8143}"/>
              </a:ext>
            </a:extLst>
          </p:cNvPr>
          <p:cNvSpPr txBox="1"/>
          <p:nvPr/>
        </p:nvSpPr>
        <p:spPr>
          <a:xfrm>
            <a:off x="838201" y="1317072"/>
            <a:ext cx="10515600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正平行投影（正交投影）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0FB59D-9781-4989-8C68-EFF666A75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0" y="1899699"/>
            <a:ext cx="8795657" cy="4823424"/>
          </a:xfrm>
          <a:prstGeom prst="rect">
            <a:avLst/>
          </a:prstGeom>
        </p:spPr>
      </p:pic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FC160DD0-C288-40C7-B5AF-5D6EACEA4282}"/>
              </a:ext>
            </a:extLst>
          </p:cNvPr>
          <p:cNvSpPr/>
          <p:nvPr/>
        </p:nvSpPr>
        <p:spPr>
          <a:xfrm>
            <a:off x="3623387" y="2474673"/>
            <a:ext cx="3178629" cy="95432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重设视口大小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切换到投影矩阵操作模式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重置为单位矩阵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4F78372B-AA84-422E-B0F5-C7171F031865}"/>
              </a:ext>
            </a:extLst>
          </p:cNvPr>
          <p:cNvSpPr/>
          <p:nvPr/>
        </p:nvSpPr>
        <p:spPr>
          <a:xfrm>
            <a:off x="9038252" y="3429000"/>
            <a:ext cx="3060443" cy="95432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由新的视口长宽比计算所需平行投影裁剪窗口大小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5742107F-9832-41F3-B35A-B9728A0EAB99}"/>
              </a:ext>
            </a:extLst>
          </p:cNvPr>
          <p:cNvSpPr/>
          <p:nvPr/>
        </p:nvSpPr>
        <p:spPr>
          <a:xfrm>
            <a:off x="7044613" y="1502229"/>
            <a:ext cx="1791478" cy="397470"/>
          </a:xfrm>
          <a:prstGeom prst="round2Same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自适应裁剪窗口</a:t>
            </a:r>
          </a:p>
        </p:txBody>
      </p:sp>
      <p:sp>
        <p:nvSpPr>
          <p:cNvPr id="16" name="流程图: 过程 15">
            <a:extLst>
              <a:ext uri="{FF2B5EF4-FFF2-40B4-BE49-F238E27FC236}">
                <a16:creationId xmlns:a16="http://schemas.microsoft.com/office/drawing/2014/main" id="{7D567563-4B21-4A7B-927E-36F2B09F6255}"/>
              </a:ext>
            </a:extLst>
          </p:cNvPr>
          <p:cNvSpPr/>
          <p:nvPr/>
        </p:nvSpPr>
        <p:spPr>
          <a:xfrm>
            <a:off x="3623386" y="4383327"/>
            <a:ext cx="3178629" cy="46859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切换回模型视图矩阵操作模式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57301849-9F4C-4B2B-81C4-709DEAB1E6DD}"/>
              </a:ext>
            </a:extLst>
          </p:cNvPr>
          <p:cNvSpPr/>
          <p:nvPr/>
        </p:nvSpPr>
        <p:spPr>
          <a:xfrm>
            <a:off x="3623385" y="5678332"/>
            <a:ext cx="3178629" cy="46859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绑定为窗口变形回调函数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A88D296D-AD27-453E-A8C5-CCA7A352CB0D}"/>
              </a:ext>
            </a:extLst>
          </p:cNvPr>
          <p:cNvSpPr/>
          <p:nvPr/>
        </p:nvSpPr>
        <p:spPr>
          <a:xfrm>
            <a:off x="9451910" y="1437588"/>
            <a:ext cx="2469503" cy="773221"/>
          </a:xfrm>
          <a:prstGeom prst="borderCallout2">
            <a:avLst>
              <a:gd name="adj1" fmla="val 51472"/>
              <a:gd name="adj2" fmla="val -5060"/>
              <a:gd name="adj3" fmla="val 196541"/>
              <a:gd name="adj4" fmla="val -36072"/>
              <a:gd name="adj5" fmla="val 195426"/>
              <a:gd name="adj6" fmla="val -125608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OpenGL</a:t>
            </a:r>
            <a:r>
              <a:rPr lang="zh-CN" altLang="en-US" dirty="0"/>
              <a:t>函数大多都是矩阵运算</a:t>
            </a:r>
          </a:p>
        </p:txBody>
      </p:sp>
      <p:sp>
        <p:nvSpPr>
          <p:cNvPr id="21" name="标注: 弯曲线形 20">
            <a:extLst>
              <a:ext uri="{FF2B5EF4-FFF2-40B4-BE49-F238E27FC236}">
                <a16:creationId xmlns:a16="http://schemas.microsoft.com/office/drawing/2014/main" id="{AE1A864F-5883-4A60-A09C-C116879983C0}"/>
              </a:ext>
            </a:extLst>
          </p:cNvPr>
          <p:cNvSpPr/>
          <p:nvPr/>
        </p:nvSpPr>
        <p:spPr>
          <a:xfrm>
            <a:off x="9451909" y="5139406"/>
            <a:ext cx="2469503" cy="1102774"/>
          </a:xfrm>
          <a:prstGeom prst="borderCallout2">
            <a:avLst>
              <a:gd name="adj1" fmla="val 51472"/>
              <a:gd name="adj2" fmla="val -5060"/>
              <a:gd name="adj3" fmla="val -47983"/>
              <a:gd name="adj4" fmla="val -27382"/>
              <a:gd name="adj5" fmla="val -48252"/>
              <a:gd name="adj6" fmla="val -110117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矩阵模式可以看做程序状态，后续所有矩阵运算都在当前状态下操作</a:t>
            </a:r>
          </a:p>
        </p:txBody>
      </p:sp>
    </p:spTree>
    <p:extLst>
      <p:ext uri="{BB962C8B-B14F-4D97-AF65-F5344CB8AC3E}">
        <p14:creationId xmlns:p14="http://schemas.microsoft.com/office/powerpoint/2010/main" val="2666641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投影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F57BC6-DA64-4DA1-80A8-FBDE5C2E8143}"/>
              </a:ext>
            </a:extLst>
          </p:cNvPr>
          <p:cNvSpPr txBox="1"/>
          <p:nvPr/>
        </p:nvSpPr>
        <p:spPr>
          <a:xfrm>
            <a:off x="838201" y="1317072"/>
            <a:ext cx="10515600" cy="1342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透视投影</a:t>
            </a:r>
            <a:endParaRPr lang="en-US" altLang="zh-C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近裁剪平面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远裁剪平面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581F91-831F-4F09-B524-C20F0BC02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172" y="725323"/>
            <a:ext cx="5113655" cy="26663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C82462A-FD86-4DA4-936D-1CADBA964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" y="4052142"/>
            <a:ext cx="12192000" cy="1198820"/>
          </a:xfrm>
          <a:prstGeom prst="rect">
            <a:avLst/>
          </a:prstGeom>
        </p:spPr>
      </p:pic>
      <p:sp>
        <p:nvSpPr>
          <p:cNvPr id="8" name="矩形: 圆顶角 7">
            <a:extLst>
              <a:ext uri="{FF2B5EF4-FFF2-40B4-BE49-F238E27FC236}">
                <a16:creationId xmlns:a16="http://schemas.microsoft.com/office/drawing/2014/main" id="{D71F02D4-B641-489D-80F3-1C119FF01C6D}"/>
              </a:ext>
            </a:extLst>
          </p:cNvPr>
          <p:cNvSpPr/>
          <p:nvPr/>
        </p:nvSpPr>
        <p:spPr>
          <a:xfrm>
            <a:off x="2419978" y="3637252"/>
            <a:ext cx="6027575" cy="41489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近平面范围</a:t>
            </a:r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942C3D92-F4AA-4271-B238-27A7C181A923}"/>
              </a:ext>
            </a:extLst>
          </p:cNvPr>
          <p:cNvSpPr/>
          <p:nvPr/>
        </p:nvSpPr>
        <p:spPr>
          <a:xfrm>
            <a:off x="8656177" y="3273358"/>
            <a:ext cx="3057090" cy="778784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近平面和远平面到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投影参考点的距离</a:t>
            </a:r>
            <a:r>
              <a:rPr lang="en-US" altLang="zh-CN" dirty="0">
                <a:solidFill>
                  <a:schemeClr val="tx1"/>
                </a:solidFill>
              </a:rPr>
              <a:t>(&gt;0)</a:t>
            </a:r>
          </a:p>
        </p:txBody>
      </p:sp>
      <p:sp>
        <p:nvSpPr>
          <p:cNvPr id="13" name="标注: 弯曲线形 12">
            <a:extLst>
              <a:ext uri="{FF2B5EF4-FFF2-40B4-BE49-F238E27FC236}">
                <a16:creationId xmlns:a16="http://schemas.microsoft.com/office/drawing/2014/main" id="{6E496CD4-99A9-4513-B3A4-2542F3FCC539}"/>
              </a:ext>
            </a:extLst>
          </p:cNvPr>
          <p:cNvSpPr/>
          <p:nvPr/>
        </p:nvSpPr>
        <p:spPr>
          <a:xfrm>
            <a:off x="9349274" y="1021343"/>
            <a:ext cx="2646785" cy="858692"/>
          </a:xfrm>
          <a:prstGeom prst="borderCallout2">
            <a:avLst>
              <a:gd name="adj1" fmla="val 51472"/>
              <a:gd name="adj2" fmla="val -5060"/>
              <a:gd name="adj3" fmla="val 193830"/>
              <a:gd name="adj4" fmla="val -15150"/>
              <a:gd name="adj5" fmla="val 193619"/>
              <a:gd name="adj6" fmla="val -31468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视点默认为世界坐标原点，默认看向负</a:t>
            </a:r>
            <a:r>
              <a:rPr lang="en-US" altLang="zh-CN" dirty="0"/>
              <a:t>Z</a:t>
            </a:r>
            <a:r>
              <a:rPr lang="zh-CN" altLang="en-US" dirty="0"/>
              <a:t>轴方向</a:t>
            </a: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7E185E9F-B85C-477B-8EC7-DE35B9D748BC}"/>
              </a:ext>
            </a:extLst>
          </p:cNvPr>
          <p:cNvSpPr/>
          <p:nvPr/>
        </p:nvSpPr>
        <p:spPr>
          <a:xfrm>
            <a:off x="2419978" y="5261104"/>
            <a:ext cx="1492898" cy="46491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Y</a:t>
            </a:r>
            <a:r>
              <a:rPr lang="zh-CN" altLang="en-US" dirty="0">
                <a:solidFill>
                  <a:schemeClr val="tx1"/>
                </a:solidFill>
              </a:rPr>
              <a:t>轴视野角</a:t>
            </a:r>
          </a:p>
        </p:txBody>
      </p:sp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87DA9AC8-8EFD-435C-8655-08268B21BD2E}"/>
              </a:ext>
            </a:extLst>
          </p:cNvPr>
          <p:cNvSpPr/>
          <p:nvPr/>
        </p:nvSpPr>
        <p:spPr>
          <a:xfrm>
            <a:off x="3912876" y="5261104"/>
            <a:ext cx="1632857" cy="46491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裁剪面宽高比</a:t>
            </a:r>
          </a:p>
        </p:txBody>
      </p:sp>
      <p:sp>
        <p:nvSpPr>
          <p:cNvPr id="17" name="矩形: 圆顶角 16">
            <a:extLst>
              <a:ext uri="{FF2B5EF4-FFF2-40B4-BE49-F238E27FC236}">
                <a16:creationId xmlns:a16="http://schemas.microsoft.com/office/drawing/2014/main" id="{15206FF7-5DD9-4657-94FF-1A34686621A5}"/>
              </a:ext>
            </a:extLst>
          </p:cNvPr>
          <p:cNvSpPr/>
          <p:nvPr/>
        </p:nvSpPr>
        <p:spPr>
          <a:xfrm>
            <a:off x="5545733" y="5261104"/>
            <a:ext cx="3110443" cy="768642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近平面和远平面到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投影参考点的距离</a:t>
            </a:r>
            <a:r>
              <a:rPr lang="en-US" altLang="zh-CN" dirty="0">
                <a:solidFill>
                  <a:schemeClr val="tx1"/>
                </a:solidFill>
              </a:rPr>
              <a:t>(&gt;0)</a:t>
            </a:r>
          </a:p>
        </p:txBody>
      </p:sp>
      <p:sp>
        <p:nvSpPr>
          <p:cNvPr id="18" name="标注: 弯曲线形 17">
            <a:extLst>
              <a:ext uri="{FF2B5EF4-FFF2-40B4-BE49-F238E27FC236}">
                <a16:creationId xmlns:a16="http://schemas.microsoft.com/office/drawing/2014/main" id="{BB0FC3BA-F908-4259-9D17-E4D5C967BB26}"/>
              </a:ext>
            </a:extLst>
          </p:cNvPr>
          <p:cNvSpPr/>
          <p:nvPr/>
        </p:nvSpPr>
        <p:spPr>
          <a:xfrm>
            <a:off x="1020385" y="6158070"/>
            <a:ext cx="2892491" cy="464910"/>
          </a:xfrm>
          <a:prstGeom prst="borderCallout2">
            <a:avLst>
              <a:gd name="adj1" fmla="val -14758"/>
              <a:gd name="adj2" fmla="val 50424"/>
              <a:gd name="adj3" fmla="val -40986"/>
              <a:gd name="adj4" fmla="val 75172"/>
              <a:gd name="adj5" fmla="val -81336"/>
              <a:gd name="adj6" fmla="val 75091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Y</a:t>
            </a:r>
            <a:r>
              <a:rPr lang="zh-CN" altLang="en-US" dirty="0"/>
              <a:t>轴方向上视野张开的角度</a:t>
            </a:r>
          </a:p>
        </p:txBody>
      </p:sp>
    </p:spTree>
    <p:extLst>
      <p:ext uri="{BB962C8B-B14F-4D97-AF65-F5344CB8AC3E}">
        <p14:creationId xmlns:p14="http://schemas.microsoft.com/office/powerpoint/2010/main" val="1270459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观察变换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C6B670-5FE2-42DA-AA6A-1F33205E9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60" y="3105456"/>
            <a:ext cx="8385110" cy="153164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90A6AC2-94E1-4431-9437-BBF9FC6555AF}"/>
              </a:ext>
            </a:extLst>
          </p:cNvPr>
          <p:cNvSpPr txBox="1"/>
          <p:nvPr/>
        </p:nvSpPr>
        <p:spPr>
          <a:xfrm>
            <a:off x="838201" y="1317072"/>
            <a:ext cx="10515600" cy="1342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模型</a:t>
            </a:r>
            <a:r>
              <a:rPr lang="en-US" altLang="zh-CN" sz="2000" dirty="0"/>
              <a:t>-</a:t>
            </a:r>
            <a:r>
              <a:rPr lang="zh-CN" altLang="en-US" sz="2000" dirty="0"/>
              <a:t>视图矩阵（</a:t>
            </a:r>
            <a:r>
              <a:rPr lang="en-US" altLang="zh-CN" sz="2000" dirty="0"/>
              <a:t>GL_MODELVIEW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模型变换</a:t>
            </a:r>
            <a:r>
              <a:rPr lang="en-US" altLang="zh-CN" dirty="0"/>
              <a:t>——</a:t>
            </a:r>
            <a:r>
              <a:rPr lang="zh-CN" altLang="en-US" dirty="0"/>
              <a:t>在世界坐标系下操作物体（几何变换）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</a:rPr>
              <a:t>视图变换</a:t>
            </a:r>
            <a:r>
              <a:rPr lang="en-US" altLang="zh-CN" dirty="0">
                <a:solidFill>
                  <a:srgbClr val="C00000"/>
                </a:solidFill>
              </a:rPr>
              <a:t>——</a:t>
            </a:r>
            <a:r>
              <a:rPr lang="zh-CN" altLang="en-US" dirty="0">
                <a:solidFill>
                  <a:srgbClr val="C00000"/>
                </a:solidFill>
              </a:rPr>
              <a:t>在世界坐标系下操作摄像机（观察变换）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C0C2E1ED-A244-42C5-98E2-870AFF09BDB7}"/>
              </a:ext>
            </a:extLst>
          </p:cNvPr>
          <p:cNvSpPr/>
          <p:nvPr/>
        </p:nvSpPr>
        <p:spPr>
          <a:xfrm>
            <a:off x="8937170" y="3236797"/>
            <a:ext cx="2597022" cy="1268963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视点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摄像机坐标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观察点中心坐标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向上向量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5300A4-5C75-4D04-BD7E-33B112F24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970" y="1220639"/>
            <a:ext cx="2713714" cy="153566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10D8106-615B-4C98-B6D7-13C82939CFE1}"/>
              </a:ext>
            </a:extLst>
          </p:cNvPr>
          <p:cNvSpPr txBox="1"/>
          <p:nvPr/>
        </p:nvSpPr>
        <p:spPr>
          <a:xfrm>
            <a:off x="3080656" y="4819013"/>
            <a:ext cx="2844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默认值为</a:t>
            </a:r>
            <a:endParaRPr lang="en-US" altLang="zh-CN" dirty="0"/>
          </a:p>
          <a:p>
            <a:r>
              <a:rPr lang="en-US" altLang="zh-CN" dirty="0"/>
              <a:t>	0    0    0</a:t>
            </a:r>
          </a:p>
          <a:p>
            <a:r>
              <a:rPr lang="en-US" altLang="zh-CN" dirty="0"/>
              <a:t>	0    0    -1</a:t>
            </a:r>
          </a:p>
          <a:p>
            <a:r>
              <a:rPr lang="en-US" altLang="zh-CN" dirty="0"/>
              <a:t>	0    1    0</a:t>
            </a:r>
            <a:endParaRPr lang="zh-CN" altLang="en-US" dirty="0"/>
          </a:p>
        </p:txBody>
      </p:sp>
      <p:sp>
        <p:nvSpPr>
          <p:cNvPr id="21" name="流程图: 过程 20">
            <a:extLst>
              <a:ext uri="{FF2B5EF4-FFF2-40B4-BE49-F238E27FC236}">
                <a16:creationId xmlns:a16="http://schemas.microsoft.com/office/drawing/2014/main" id="{E37A7F5F-89D7-45E4-8574-9A7D4CFDA5BA}"/>
              </a:ext>
            </a:extLst>
          </p:cNvPr>
          <p:cNvSpPr/>
          <p:nvPr/>
        </p:nvSpPr>
        <p:spPr>
          <a:xfrm>
            <a:off x="6096000" y="4986251"/>
            <a:ext cx="2597024" cy="108726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世界坐标原点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看向负</a:t>
            </a:r>
            <a:r>
              <a:rPr lang="en-US" altLang="zh-CN" dirty="0">
                <a:solidFill>
                  <a:schemeClr val="tx1"/>
                </a:solidFill>
              </a:rPr>
              <a:t>Z</a:t>
            </a:r>
            <a:r>
              <a:rPr lang="zh-CN" altLang="en-US" dirty="0">
                <a:solidFill>
                  <a:schemeClr val="tx1"/>
                </a:solidFill>
              </a:rPr>
              <a:t>轴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向上向量沿</a:t>
            </a:r>
            <a:r>
              <a:rPr lang="en-US" altLang="zh-CN" dirty="0">
                <a:solidFill>
                  <a:schemeClr val="tx1"/>
                </a:solidFill>
              </a:rPr>
              <a:t>Y</a:t>
            </a:r>
            <a:r>
              <a:rPr lang="zh-CN" altLang="en-US" dirty="0">
                <a:solidFill>
                  <a:schemeClr val="tx1"/>
                </a:solidFill>
              </a:rPr>
              <a:t>轴向上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950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观察变换</a:t>
            </a:r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79F863FA-A827-4BAB-8504-CED4B0757C2B}"/>
              </a:ext>
            </a:extLst>
          </p:cNvPr>
          <p:cNvSpPr/>
          <p:nvPr/>
        </p:nvSpPr>
        <p:spPr>
          <a:xfrm>
            <a:off x="5788769" y="902041"/>
            <a:ext cx="1806117" cy="397470"/>
          </a:xfrm>
          <a:prstGeom prst="round2Same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投影和观察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3FEF37-6627-4A6D-8DED-E951EED87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8" y="1299511"/>
            <a:ext cx="7024016" cy="5349415"/>
          </a:xfrm>
          <a:prstGeom prst="rect">
            <a:avLst/>
          </a:prstGeom>
        </p:spPr>
      </p:pic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6D454DDC-F667-447F-9AFF-CEEEBCC6B36C}"/>
              </a:ext>
            </a:extLst>
          </p:cNvPr>
          <p:cNvSpPr/>
          <p:nvPr/>
        </p:nvSpPr>
        <p:spPr>
          <a:xfrm>
            <a:off x="5605485" y="1793955"/>
            <a:ext cx="1843939" cy="463195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全局摄像机参数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9A156575-F251-4070-9989-AF47FF5BA0BE}"/>
              </a:ext>
            </a:extLst>
          </p:cNvPr>
          <p:cNvSpPr/>
          <p:nvPr/>
        </p:nvSpPr>
        <p:spPr>
          <a:xfrm>
            <a:off x="7819359" y="2889583"/>
            <a:ext cx="2532656" cy="36525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清除颜色和深度缓冲区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6" name="流程图: 过程 15">
            <a:extLst>
              <a:ext uri="{FF2B5EF4-FFF2-40B4-BE49-F238E27FC236}">
                <a16:creationId xmlns:a16="http://schemas.microsoft.com/office/drawing/2014/main" id="{EEEF5F9A-F82C-4A21-BD8B-411B3E6B3C52}"/>
              </a:ext>
            </a:extLst>
          </p:cNvPr>
          <p:cNvSpPr/>
          <p:nvPr/>
        </p:nvSpPr>
        <p:spPr>
          <a:xfrm>
            <a:off x="5605485" y="3358150"/>
            <a:ext cx="1843938" cy="70007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在投影模式下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设置透视投影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7" name="流程图: 过程 16">
            <a:extLst>
              <a:ext uri="{FF2B5EF4-FFF2-40B4-BE49-F238E27FC236}">
                <a16:creationId xmlns:a16="http://schemas.microsoft.com/office/drawing/2014/main" id="{83EE883B-2A63-40E7-BE44-337757EC24A0}"/>
              </a:ext>
            </a:extLst>
          </p:cNvPr>
          <p:cNvSpPr/>
          <p:nvPr/>
        </p:nvSpPr>
        <p:spPr>
          <a:xfrm>
            <a:off x="7819359" y="4442944"/>
            <a:ext cx="2532656" cy="91762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在模型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视图模式下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设置摄像机参数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绘制物体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" name="流程图: 过程 17">
            <a:extLst>
              <a:ext uri="{FF2B5EF4-FFF2-40B4-BE49-F238E27FC236}">
                <a16:creationId xmlns:a16="http://schemas.microsoft.com/office/drawing/2014/main" id="{C9761BE6-7288-4DA0-A2A7-92DB4755B8C8}"/>
              </a:ext>
            </a:extLst>
          </p:cNvPr>
          <p:cNvSpPr/>
          <p:nvPr/>
        </p:nvSpPr>
        <p:spPr>
          <a:xfrm>
            <a:off x="5605485" y="5481963"/>
            <a:ext cx="1843938" cy="70007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刷新缓冲区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交换缓冲区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2" name="标注: 弯曲线形 21">
            <a:extLst>
              <a:ext uri="{FF2B5EF4-FFF2-40B4-BE49-F238E27FC236}">
                <a16:creationId xmlns:a16="http://schemas.microsoft.com/office/drawing/2014/main" id="{2F3C8F22-3311-4F0A-8174-B6FBBED550FD}"/>
              </a:ext>
            </a:extLst>
          </p:cNvPr>
          <p:cNvSpPr/>
          <p:nvPr/>
        </p:nvSpPr>
        <p:spPr>
          <a:xfrm>
            <a:off x="9117263" y="752308"/>
            <a:ext cx="2386839" cy="773221"/>
          </a:xfrm>
          <a:prstGeom prst="borderCallout2">
            <a:avLst>
              <a:gd name="adj1" fmla="val 51472"/>
              <a:gd name="adj2" fmla="val -5060"/>
              <a:gd name="adj3" fmla="val 166406"/>
              <a:gd name="adj4" fmla="val -35341"/>
              <a:gd name="adj5" fmla="val 166376"/>
              <a:gd name="adj6" fmla="val -73941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动态修改摄像机参数实现观察变换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8BEF55B9-8A91-4076-8C46-25EEECDA7C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929397" y="2715210"/>
            <a:ext cx="3284373" cy="1175657"/>
          </a:xfrm>
          <a:prstGeom prst="bentConnector3">
            <a:avLst>
              <a:gd name="adj1" fmla="val 568"/>
            </a:avLst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标注: 弯曲线形 26">
            <a:extLst>
              <a:ext uri="{FF2B5EF4-FFF2-40B4-BE49-F238E27FC236}">
                <a16:creationId xmlns:a16="http://schemas.microsoft.com/office/drawing/2014/main" id="{5BEAD469-33F1-4C28-B552-000E0A9C04C6}"/>
              </a:ext>
            </a:extLst>
          </p:cNvPr>
          <p:cNvSpPr/>
          <p:nvPr/>
        </p:nvSpPr>
        <p:spPr>
          <a:xfrm>
            <a:off x="8856007" y="5906280"/>
            <a:ext cx="2992016" cy="686956"/>
          </a:xfrm>
          <a:prstGeom prst="borderCallout2">
            <a:avLst>
              <a:gd name="adj1" fmla="val 51472"/>
              <a:gd name="adj2" fmla="val -5060"/>
              <a:gd name="adj3" fmla="val 12501"/>
              <a:gd name="adj4" fmla="val -26452"/>
              <a:gd name="adj5" fmla="val 11512"/>
              <a:gd name="adj6" fmla="val -63201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双缓冲区方法在后台缓冲区绘制，需要交换到前台</a:t>
            </a:r>
          </a:p>
        </p:txBody>
      </p:sp>
    </p:spTree>
    <p:extLst>
      <p:ext uri="{BB962C8B-B14F-4D97-AF65-F5344CB8AC3E}">
        <p14:creationId xmlns:p14="http://schemas.microsoft.com/office/powerpoint/2010/main" val="2480555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观察变换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E916BAA-7876-45FC-BE37-74E2BD77B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121" y="1652014"/>
            <a:ext cx="2862857" cy="28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6BC1967-1C17-446B-BB89-4F0594EBC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353" y="1654871"/>
            <a:ext cx="2857143" cy="285714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A09C8B3-3376-4ED3-AE8F-03FD74B5D82E}"/>
              </a:ext>
            </a:extLst>
          </p:cNvPr>
          <p:cNvSpPr txBox="1"/>
          <p:nvPr/>
        </p:nvSpPr>
        <p:spPr>
          <a:xfrm>
            <a:off x="5481083" y="1251904"/>
            <a:ext cx="4916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俯视图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20425F-FBE0-4766-A719-F2F3FC95AFC6}"/>
              </a:ext>
            </a:extLst>
          </p:cNvPr>
          <p:cNvSpPr txBox="1"/>
          <p:nvPr/>
        </p:nvSpPr>
        <p:spPr>
          <a:xfrm>
            <a:off x="1743601" y="1251904"/>
            <a:ext cx="4916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主视图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7D5703F-1D85-4B85-8376-C3CEAAF4C038}"/>
              </a:ext>
            </a:extLst>
          </p:cNvPr>
          <p:cNvSpPr txBox="1"/>
          <p:nvPr/>
        </p:nvSpPr>
        <p:spPr>
          <a:xfrm>
            <a:off x="3059690" y="4512014"/>
            <a:ext cx="2284468" cy="212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gluLookAt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0,0,0,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0,0,-1,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0,1,0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BE5C446-5509-49C2-9063-984A2B7C56E2}"/>
              </a:ext>
            </a:extLst>
          </p:cNvPr>
          <p:cNvSpPr txBox="1"/>
          <p:nvPr/>
        </p:nvSpPr>
        <p:spPr>
          <a:xfrm>
            <a:off x="6802893" y="4512013"/>
            <a:ext cx="2284468" cy="212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gluLookAt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0,1,-1,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0,0,-1,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0,0,-1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3E0F018-D0A6-4C25-8D4D-AF139ADA368D}"/>
              </a:ext>
            </a:extLst>
          </p:cNvPr>
          <p:cNvCxnSpPr>
            <a:cxnSpLocks/>
          </p:cNvCxnSpPr>
          <p:nvPr/>
        </p:nvCxnSpPr>
        <p:spPr>
          <a:xfrm flipV="1">
            <a:off x="1218418" y="2529000"/>
            <a:ext cx="0" cy="900000"/>
          </a:xfrm>
          <a:prstGeom prst="straightConnector1">
            <a:avLst/>
          </a:prstGeom>
          <a:ln w="63500">
            <a:solidFill>
              <a:schemeClr val="accent1"/>
            </a:solidFill>
            <a:round/>
            <a:headEnd type="oval" w="sm" len="sm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A6B554C-A229-4DD5-B2AC-B252FF93A493}"/>
              </a:ext>
            </a:extLst>
          </p:cNvPr>
          <p:cNvCxnSpPr>
            <a:cxnSpLocks/>
          </p:cNvCxnSpPr>
          <p:nvPr/>
        </p:nvCxnSpPr>
        <p:spPr>
          <a:xfrm>
            <a:off x="1218418" y="3429000"/>
            <a:ext cx="900000" cy="0"/>
          </a:xfrm>
          <a:prstGeom prst="straightConnector1">
            <a:avLst/>
          </a:prstGeom>
          <a:ln w="63500">
            <a:solidFill>
              <a:srgbClr val="FF0000"/>
            </a:solidFill>
            <a:round/>
            <a:headEnd type="oval" w="sm" len="sm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A26D63D9-0BA2-4730-8DF6-363603B19730}"/>
              </a:ext>
            </a:extLst>
          </p:cNvPr>
          <p:cNvSpPr txBox="1"/>
          <p:nvPr/>
        </p:nvSpPr>
        <p:spPr>
          <a:xfrm>
            <a:off x="2024260" y="3285219"/>
            <a:ext cx="430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</a:rPr>
              <a:t>X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71BC324-3922-4884-B848-579B8D8AB862}"/>
              </a:ext>
            </a:extLst>
          </p:cNvPr>
          <p:cNvSpPr txBox="1"/>
          <p:nvPr/>
        </p:nvSpPr>
        <p:spPr>
          <a:xfrm>
            <a:off x="1003036" y="2197021"/>
            <a:ext cx="430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/>
                </a:solidFill>
              </a:rPr>
              <a:t>Y</a:t>
            </a:r>
            <a:endParaRPr lang="zh-CN" altLang="en-US" sz="1600" b="1" dirty="0">
              <a:solidFill>
                <a:schemeClr val="accent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B189CD-2DC2-461F-AD0D-E5094F8BC938}"/>
              </a:ext>
            </a:extLst>
          </p:cNvPr>
          <p:cNvSpPr txBox="1"/>
          <p:nvPr/>
        </p:nvSpPr>
        <p:spPr>
          <a:xfrm>
            <a:off x="482226" y="3420238"/>
            <a:ext cx="430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</a:rPr>
              <a:t>Z</a:t>
            </a:r>
            <a:endParaRPr lang="zh-CN" altLang="en-US" sz="1600" b="1" dirty="0">
              <a:solidFill>
                <a:schemeClr val="accent6"/>
              </a:solidFill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81AB6F3-B93A-4B21-9B4D-B72F20E4BE4A}"/>
              </a:ext>
            </a:extLst>
          </p:cNvPr>
          <p:cNvCxnSpPr>
            <a:cxnSpLocks/>
          </p:cNvCxnSpPr>
          <p:nvPr/>
        </p:nvCxnSpPr>
        <p:spPr>
          <a:xfrm>
            <a:off x="10346042" y="3420238"/>
            <a:ext cx="0" cy="900000"/>
          </a:xfrm>
          <a:prstGeom prst="straightConnector1">
            <a:avLst/>
          </a:prstGeom>
          <a:ln w="63500">
            <a:solidFill>
              <a:schemeClr val="accent6"/>
            </a:solidFill>
            <a:round/>
            <a:headEnd type="oval" w="sm" len="sm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CF22D24-4F50-4CF9-AF11-0D9B6F91BA97}"/>
              </a:ext>
            </a:extLst>
          </p:cNvPr>
          <p:cNvCxnSpPr>
            <a:cxnSpLocks/>
          </p:cNvCxnSpPr>
          <p:nvPr/>
        </p:nvCxnSpPr>
        <p:spPr>
          <a:xfrm>
            <a:off x="10346042" y="3420238"/>
            <a:ext cx="900000" cy="0"/>
          </a:xfrm>
          <a:prstGeom prst="straightConnector1">
            <a:avLst/>
          </a:prstGeom>
          <a:ln w="63500">
            <a:solidFill>
              <a:srgbClr val="FF0000"/>
            </a:solidFill>
            <a:round/>
            <a:headEnd type="oval" w="sm" len="sm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3F30EE82-5EE4-4141-AE6F-15DF95D8B6C0}"/>
              </a:ext>
            </a:extLst>
          </p:cNvPr>
          <p:cNvSpPr txBox="1"/>
          <p:nvPr/>
        </p:nvSpPr>
        <p:spPr>
          <a:xfrm>
            <a:off x="11151884" y="3276457"/>
            <a:ext cx="430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</a:rPr>
              <a:t>X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3FAEB9D-49E3-4CAF-8804-8F8A0C3E1618}"/>
              </a:ext>
            </a:extLst>
          </p:cNvPr>
          <p:cNvSpPr txBox="1"/>
          <p:nvPr/>
        </p:nvSpPr>
        <p:spPr>
          <a:xfrm>
            <a:off x="10129130" y="4328708"/>
            <a:ext cx="430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</a:rPr>
              <a:t>Z</a:t>
            </a:r>
            <a:endParaRPr lang="zh-CN" altLang="en-US" sz="1600" b="1" dirty="0">
              <a:solidFill>
                <a:schemeClr val="accent6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0A06485-B411-4354-A40D-63BA7A529E73}"/>
              </a:ext>
            </a:extLst>
          </p:cNvPr>
          <p:cNvSpPr txBox="1"/>
          <p:nvPr/>
        </p:nvSpPr>
        <p:spPr>
          <a:xfrm>
            <a:off x="9705524" y="2681574"/>
            <a:ext cx="430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/>
                </a:solidFill>
              </a:rPr>
              <a:t>Y</a:t>
            </a:r>
            <a:endParaRPr lang="zh-CN" altLang="en-US" sz="1600" b="1" dirty="0">
              <a:solidFill>
                <a:schemeClr val="accent1"/>
              </a:solidFill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4725223-488E-42B1-8940-983ADA9FEE78}"/>
              </a:ext>
            </a:extLst>
          </p:cNvPr>
          <p:cNvCxnSpPr>
            <a:cxnSpLocks/>
          </p:cNvCxnSpPr>
          <p:nvPr/>
        </p:nvCxnSpPr>
        <p:spPr>
          <a:xfrm flipH="1" flipV="1">
            <a:off x="9911575" y="3029459"/>
            <a:ext cx="427306" cy="388906"/>
          </a:xfrm>
          <a:prstGeom prst="straightConnector1">
            <a:avLst/>
          </a:prstGeom>
          <a:ln w="63500">
            <a:solidFill>
              <a:schemeClr val="accent1"/>
            </a:solidFill>
            <a:round/>
            <a:headEnd type="oval" w="sm" len="sm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826110F-4384-47E0-BDF7-9F1BBDEB1B94}"/>
              </a:ext>
            </a:extLst>
          </p:cNvPr>
          <p:cNvCxnSpPr>
            <a:cxnSpLocks/>
          </p:cNvCxnSpPr>
          <p:nvPr/>
        </p:nvCxnSpPr>
        <p:spPr>
          <a:xfrm flipH="1">
            <a:off x="743028" y="3437096"/>
            <a:ext cx="468479" cy="472408"/>
          </a:xfrm>
          <a:prstGeom prst="straightConnector1">
            <a:avLst/>
          </a:prstGeom>
          <a:ln w="63500">
            <a:solidFill>
              <a:schemeClr val="accent6"/>
            </a:solidFill>
            <a:round/>
            <a:headEnd type="oval" w="sm" len="sm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过程 56">
            <a:extLst>
              <a:ext uri="{FF2B5EF4-FFF2-40B4-BE49-F238E27FC236}">
                <a16:creationId xmlns:a16="http://schemas.microsoft.com/office/drawing/2014/main" id="{864E1D8E-CB72-47F7-B264-38C25680B8CD}"/>
              </a:ext>
            </a:extLst>
          </p:cNvPr>
          <p:cNvSpPr/>
          <p:nvPr/>
        </p:nvSpPr>
        <p:spPr>
          <a:xfrm>
            <a:off x="335371" y="4695010"/>
            <a:ext cx="2196856" cy="82126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OpenGL</a:t>
            </a:r>
            <a:r>
              <a:rPr lang="zh-CN" altLang="en-US" dirty="0">
                <a:solidFill>
                  <a:schemeClr val="tx1"/>
                </a:solidFill>
              </a:rPr>
              <a:t>世界坐标系为右手坐标系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775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鼠标输入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9A0578-5918-4EA1-A143-45D7F16EDA4B}"/>
              </a:ext>
            </a:extLst>
          </p:cNvPr>
          <p:cNvSpPr txBox="1"/>
          <p:nvPr/>
        </p:nvSpPr>
        <p:spPr>
          <a:xfrm>
            <a:off x="838201" y="1317072"/>
            <a:ext cx="10515600" cy="9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鼠标点击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鼠标移动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C61FEA-7D1B-4AC5-9C30-51B0F584F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563" y="3266430"/>
            <a:ext cx="8434873" cy="1305708"/>
          </a:xfrm>
          <a:prstGeom prst="rect">
            <a:avLst/>
          </a:prstGeom>
        </p:spPr>
      </p:pic>
      <p:sp>
        <p:nvSpPr>
          <p:cNvPr id="27" name="矩形: 圆顶角 26">
            <a:extLst>
              <a:ext uri="{FF2B5EF4-FFF2-40B4-BE49-F238E27FC236}">
                <a16:creationId xmlns:a16="http://schemas.microsoft.com/office/drawing/2014/main" id="{64D9D781-78A8-4C71-81AB-09D918A186E1}"/>
              </a:ext>
            </a:extLst>
          </p:cNvPr>
          <p:cNvSpPr/>
          <p:nvPr/>
        </p:nvSpPr>
        <p:spPr>
          <a:xfrm>
            <a:off x="5667031" y="2851540"/>
            <a:ext cx="1274944" cy="41489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按键</a:t>
            </a:r>
            <a:r>
              <a:rPr lang="en-US" altLang="zh-CN" dirty="0">
                <a:solidFill>
                  <a:schemeClr val="tx1"/>
                </a:solidFill>
              </a:rPr>
              <a:t>ID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60440A4A-E487-49C3-A784-13DD6E490315}"/>
              </a:ext>
            </a:extLst>
          </p:cNvPr>
          <p:cNvSpPr/>
          <p:nvPr/>
        </p:nvSpPr>
        <p:spPr>
          <a:xfrm>
            <a:off x="6941975" y="2851540"/>
            <a:ext cx="1228291" cy="41489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状态</a:t>
            </a:r>
          </a:p>
        </p:txBody>
      </p:sp>
      <p:sp>
        <p:nvSpPr>
          <p:cNvPr id="30" name="矩形: 圆顶角 29">
            <a:extLst>
              <a:ext uri="{FF2B5EF4-FFF2-40B4-BE49-F238E27FC236}">
                <a16:creationId xmlns:a16="http://schemas.microsoft.com/office/drawing/2014/main" id="{0E6FCC8C-A708-4880-BBE6-369A94152F3E}"/>
              </a:ext>
            </a:extLst>
          </p:cNvPr>
          <p:cNvSpPr/>
          <p:nvPr/>
        </p:nvSpPr>
        <p:spPr>
          <a:xfrm>
            <a:off x="8170266" y="2851540"/>
            <a:ext cx="1524240" cy="41489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鼠标坐标</a:t>
            </a:r>
          </a:p>
        </p:txBody>
      </p:sp>
      <p:sp>
        <p:nvSpPr>
          <p:cNvPr id="31" name="标注: 弯曲线形 30">
            <a:extLst>
              <a:ext uri="{FF2B5EF4-FFF2-40B4-BE49-F238E27FC236}">
                <a16:creationId xmlns:a16="http://schemas.microsoft.com/office/drawing/2014/main" id="{D4586588-5906-4E33-8339-9B02EF5A79C1}"/>
              </a:ext>
            </a:extLst>
          </p:cNvPr>
          <p:cNvSpPr/>
          <p:nvPr/>
        </p:nvSpPr>
        <p:spPr>
          <a:xfrm>
            <a:off x="4485990" y="1895936"/>
            <a:ext cx="2362082" cy="498773"/>
          </a:xfrm>
          <a:prstGeom prst="borderCallout2">
            <a:avLst>
              <a:gd name="adj1" fmla="val 107593"/>
              <a:gd name="adj2" fmla="val 49057"/>
              <a:gd name="adj3" fmla="val 176994"/>
              <a:gd name="adj4" fmla="val 67014"/>
              <a:gd name="adj5" fmla="val 184265"/>
              <a:gd name="adj6" fmla="val 68867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左键、中键、右键</a:t>
            </a:r>
          </a:p>
        </p:txBody>
      </p:sp>
      <p:sp>
        <p:nvSpPr>
          <p:cNvPr id="33" name="标注: 弯曲线形 32">
            <a:extLst>
              <a:ext uri="{FF2B5EF4-FFF2-40B4-BE49-F238E27FC236}">
                <a16:creationId xmlns:a16="http://schemas.microsoft.com/office/drawing/2014/main" id="{69B88D68-2EF1-41BE-8CE6-FD34A6C7E76D}"/>
              </a:ext>
            </a:extLst>
          </p:cNvPr>
          <p:cNvSpPr/>
          <p:nvPr/>
        </p:nvSpPr>
        <p:spPr>
          <a:xfrm>
            <a:off x="6718578" y="1058214"/>
            <a:ext cx="1675084" cy="498773"/>
          </a:xfrm>
          <a:prstGeom prst="borderCallout2">
            <a:avLst>
              <a:gd name="adj1" fmla="val 107593"/>
              <a:gd name="adj2" fmla="val 49057"/>
              <a:gd name="adj3" fmla="val 337875"/>
              <a:gd name="adj4" fmla="val 49189"/>
              <a:gd name="adj5" fmla="val 343276"/>
              <a:gd name="adj6" fmla="val 49371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按下、弹起</a:t>
            </a:r>
          </a:p>
        </p:txBody>
      </p:sp>
      <p:sp>
        <p:nvSpPr>
          <p:cNvPr id="34" name="标注: 弯曲线形 33">
            <a:extLst>
              <a:ext uri="{FF2B5EF4-FFF2-40B4-BE49-F238E27FC236}">
                <a16:creationId xmlns:a16="http://schemas.microsoft.com/office/drawing/2014/main" id="{891DE47E-8D96-4E50-8C3E-17758F518415}"/>
              </a:ext>
            </a:extLst>
          </p:cNvPr>
          <p:cNvSpPr/>
          <p:nvPr/>
        </p:nvSpPr>
        <p:spPr>
          <a:xfrm>
            <a:off x="8475842" y="1893271"/>
            <a:ext cx="2039757" cy="498773"/>
          </a:xfrm>
          <a:prstGeom prst="borderCallout2">
            <a:avLst>
              <a:gd name="adj1" fmla="val 107593"/>
              <a:gd name="adj2" fmla="val 49057"/>
              <a:gd name="adj3" fmla="val 180735"/>
              <a:gd name="adj4" fmla="val 29062"/>
              <a:gd name="adj5" fmla="val 184265"/>
              <a:gd name="adj6" fmla="val 27871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窗口坐标系位置</a:t>
            </a:r>
          </a:p>
        </p:txBody>
      </p:sp>
      <p:sp>
        <p:nvSpPr>
          <p:cNvPr id="36" name="流程图: 过程 35">
            <a:extLst>
              <a:ext uri="{FF2B5EF4-FFF2-40B4-BE49-F238E27FC236}">
                <a16:creationId xmlns:a16="http://schemas.microsoft.com/office/drawing/2014/main" id="{B895803A-5BFF-4A74-8C42-3E7191EEA1FE}"/>
              </a:ext>
            </a:extLst>
          </p:cNvPr>
          <p:cNvSpPr/>
          <p:nvPr/>
        </p:nvSpPr>
        <p:spPr>
          <a:xfrm>
            <a:off x="316709" y="5372977"/>
            <a:ext cx="2314523" cy="82126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GLUT</a:t>
            </a:r>
            <a:r>
              <a:rPr lang="zh-CN" altLang="en-US" dirty="0">
                <a:solidFill>
                  <a:schemeClr val="tx1"/>
                </a:solidFill>
              </a:rPr>
              <a:t>回调绑定方法以函数指针作为参数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7" name="矩形: 圆顶角 36">
            <a:extLst>
              <a:ext uri="{FF2B5EF4-FFF2-40B4-BE49-F238E27FC236}">
                <a16:creationId xmlns:a16="http://schemas.microsoft.com/office/drawing/2014/main" id="{37E92E5E-007E-406C-8CCA-7EF716E5D7C7}"/>
              </a:ext>
            </a:extLst>
          </p:cNvPr>
          <p:cNvSpPr/>
          <p:nvPr/>
        </p:nvSpPr>
        <p:spPr>
          <a:xfrm>
            <a:off x="5788329" y="4572138"/>
            <a:ext cx="1492898" cy="46491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鼠标坐标</a:t>
            </a:r>
          </a:p>
        </p:txBody>
      </p:sp>
      <p:sp>
        <p:nvSpPr>
          <p:cNvPr id="41" name="流程图: 过程 40">
            <a:extLst>
              <a:ext uri="{FF2B5EF4-FFF2-40B4-BE49-F238E27FC236}">
                <a16:creationId xmlns:a16="http://schemas.microsoft.com/office/drawing/2014/main" id="{BB422D59-2658-4D17-A9D9-B0F1A37D0A11}"/>
              </a:ext>
            </a:extLst>
          </p:cNvPr>
          <p:cNvSpPr/>
          <p:nvPr/>
        </p:nvSpPr>
        <p:spPr>
          <a:xfrm>
            <a:off x="8915000" y="5372977"/>
            <a:ext cx="2796872" cy="82126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glutMotionFunc</a:t>
            </a:r>
            <a:r>
              <a:rPr lang="zh-CN" altLang="en-US" dirty="0">
                <a:solidFill>
                  <a:schemeClr val="tx1"/>
                </a:solidFill>
              </a:rPr>
              <a:t>只在鼠标按下并滑动时触发回调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122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鼠标输入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9A0578-5918-4EA1-A143-45D7F16EDA4B}"/>
              </a:ext>
            </a:extLst>
          </p:cNvPr>
          <p:cNvSpPr txBox="1"/>
          <p:nvPr/>
        </p:nvSpPr>
        <p:spPr>
          <a:xfrm>
            <a:off x="838201" y="1317072"/>
            <a:ext cx="10515600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鼠标点击</a:t>
            </a: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2DAB94-F4EB-4656-A0CF-0682F4918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94" y="1899699"/>
            <a:ext cx="5264206" cy="4814184"/>
          </a:xfrm>
          <a:prstGeom prst="rect">
            <a:avLst/>
          </a:prstGeom>
        </p:spPr>
      </p:pic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5ECE3481-159E-4A79-9AFD-7773F7330F2B}"/>
              </a:ext>
            </a:extLst>
          </p:cNvPr>
          <p:cNvSpPr/>
          <p:nvPr/>
        </p:nvSpPr>
        <p:spPr>
          <a:xfrm>
            <a:off x="4273420" y="1502229"/>
            <a:ext cx="1716601" cy="397470"/>
          </a:xfrm>
          <a:prstGeom prst="round2Same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区分鼠标点击</a:t>
            </a: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B39A51DF-4352-4540-8B72-EFF2568D53A2}"/>
              </a:ext>
            </a:extLst>
          </p:cNvPr>
          <p:cNvSpPr/>
          <p:nvPr/>
        </p:nvSpPr>
        <p:spPr>
          <a:xfrm>
            <a:off x="6193313" y="2611701"/>
            <a:ext cx="3137299" cy="178301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对按键类型分别处理：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左键操作物体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右键旋转摄像机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其它情况退出函数（中键）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6304F32F-E38C-474D-AFA2-B31011DAB87F}"/>
              </a:ext>
            </a:extLst>
          </p:cNvPr>
          <p:cNvSpPr/>
          <p:nvPr/>
        </p:nvSpPr>
        <p:spPr>
          <a:xfrm>
            <a:off x="6193312" y="4677411"/>
            <a:ext cx="3137299" cy="1443471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对按键状态分别处理：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按下执行 </a:t>
            </a:r>
            <a:r>
              <a:rPr lang="en-US" altLang="zh-CN" dirty="0" err="1">
                <a:solidFill>
                  <a:schemeClr val="tx1"/>
                </a:solidFill>
              </a:rPr>
              <a:t>startMotion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弹起执行 </a:t>
            </a:r>
            <a:r>
              <a:rPr lang="en-US" altLang="zh-CN" dirty="0" err="1">
                <a:solidFill>
                  <a:schemeClr val="tx1"/>
                </a:solidFill>
              </a:rPr>
              <a:t>stopMotion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0" name="标注: 弯曲线形 9">
            <a:extLst>
              <a:ext uri="{FF2B5EF4-FFF2-40B4-BE49-F238E27FC236}">
                <a16:creationId xmlns:a16="http://schemas.microsoft.com/office/drawing/2014/main" id="{930B4BFA-D6EB-4213-88C9-AC6D663EDD21}"/>
              </a:ext>
            </a:extLst>
          </p:cNvPr>
          <p:cNvSpPr/>
          <p:nvPr/>
        </p:nvSpPr>
        <p:spPr>
          <a:xfrm>
            <a:off x="9330611" y="1700964"/>
            <a:ext cx="2713953" cy="507127"/>
          </a:xfrm>
          <a:prstGeom prst="borderCallout2">
            <a:avLst>
              <a:gd name="adj1" fmla="val 117708"/>
              <a:gd name="adj2" fmla="val 47884"/>
              <a:gd name="adj3" fmla="val 355915"/>
              <a:gd name="adj4" fmla="val 11072"/>
              <a:gd name="adj5" fmla="val 357725"/>
              <a:gd name="adj6" fmla="val -42999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通过开关全局</a:t>
            </a:r>
            <a:r>
              <a:rPr lang="en-US" altLang="zh-CN" dirty="0"/>
              <a:t>bool</a:t>
            </a:r>
            <a:r>
              <a:rPr lang="zh-CN" altLang="en-US" dirty="0"/>
              <a:t>值控制</a:t>
            </a:r>
          </a:p>
        </p:txBody>
      </p:sp>
      <p:sp>
        <p:nvSpPr>
          <p:cNvPr id="11" name="标注: 弯曲线形 10">
            <a:extLst>
              <a:ext uri="{FF2B5EF4-FFF2-40B4-BE49-F238E27FC236}">
                <a16:creationId xmlns:a16="http://schemas.microsoft.com/office/drawing/2014/main" id="{B75B8525-86CE-4CA2-B5BF-391337109101}"/>
              </a:ext>
            </a:extLst>
          </p:cNvPr>
          <p:cNvSpPr/>
          <p:nvPr/>
        </p:nvSpPr>
        <p:spPr>
          <a:xfrm>
            <a:off x="9595875" y="5399146"/>
            <a:ext cx="2347310" cy="507127"/>
          </a:xfrm>
          <a:prstGeom prst="borderCallout2">
            <a:avLst>
              <a:gd name="adj1" fmla="val 51472"/>
              <a:gd name="adj2" fmla="val -3394"/>
              <a:gd name="adj3" fmla="val 52332"/>
              <a:gd name="adj4" fmla="val -36231"/>
              <a:gd name="adj5" fmla="val 52301"/>
              <a:gd name="adj6" fmla="val -39422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自定义具体程序行为</a:t>
            </a:r>
          </a:p>
        </p:txBody>
      </p:sp>
    </p:spTree>
    <p:extLst>
      <p:ext uri="{BB962C8B-B14F-4D97-AF65-F5344CB8AC3E}">
        <p14:creationId xmlns:p14="http://schemas.microsoft.com/office/powerpoint/2010/main" val="3262809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鼠标输入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9A0578-5918-4EA1-A143-45D7F16EDA4B}"/>
              </a:ext>
            </a:extLst>
          </p:cNvPr>
          <p:cNvSpPr txBox="1"/>
          <p:nvPr/>
        </p:nvSpPr>
        <p:spPr>
          <a:xfrm>
            <a:off x="838201" y="1317072"/>
            <a:ext cx="10515600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鼠标移动</a:t>
            </a:r>
            <a:endParaRPr lang="en-US" altLang="zh-CN" sz="2000" dirty="0"/>
          </a:p>
        </p:txBody>
      </p:sp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5ECE3481-159E-4A79-9AFD-7773F7330F2B}"/>
              </a:ext>
            </a:extLst>
          </p:cNvPr>
          <p:cNvSpPr/>
          <p:nvPr/>
        </p:nvSpPr>
        <p:spPr>
          <a:xfrm>
            <a:off x="2799184" y="1874099"/>
            <a:ext cx="1268731" cy="397470"/>
          </a:xfrm>
          <a:prstGeom prst="round2Same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鼠标移动</a:t>
            </a: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B39A51DF-4352-4540-8B72-EFF2568D53A2}"/>
              </a:ext>
            </a:extLst>
          </p:cNvPr>
          <p:cNvSpPr/>
          <p:nvPr/>
        </p:nvSpPr>
        <p:spPr>
          <a:xfrm>
            <a:off x="4373843" y="2846462"/>
            <a:ext cx="3137299" cy="86443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若鼠标没有移动足够距离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则退出函数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6304F32F-E38C-474D-AFA2-B31011DAB87F}"/>
              </a:ext>
            </a:extLst>
          </p:cNvPr>
          <p:cNvSpPr/>
          <p:nvPr/>
        </p:nvSpPr>
        <p:spPr>
          <a:xfrm>
            <a:off x="4373843" y="3946722"/>
            <a:ext cx="3137299" cy="108708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根据鼠标的旧坐标和新坐标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更新相关物体或摄像机参数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提供下次绘制参考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6CC757-CE9C-475B-A697-16E3A9FB0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28" y="2271569"/>
            <a:ext cx="3231788" cy="4246298"/>
          </a:xfrm>
          <a:prstGeom prst="rect">
            <a:avLst/>
          </a:prstGeom>
        </p:spPr>
      </p:pic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C474ACFB-B5D5-40AB-B8AB-54C994F89BC0}"/>
              </a:ext>
            </a:extLst>
          </p:cNvPr>
          <p:cNvSpPr/>
          <p:nvPr/>
        </p:nvSpPr>
        <p:spPr>
          <a:xfrm>
            <a:off x="4373842" y="5286129"/>
            <a:ext cx="3137299" cy="864429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更新旧坐标值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通知程序窗口重新绘制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标注: 弯曲线形 12">
            <a:extLst>
              <a:ext uri="{FF2B5EF4-FFF2-40B4-BE49-F238E27FC236}">
                <a16:creationId xmlns:a16="http://schemas.microsoft.com/office/drawing/2014/main" id="{D9BCB746-AD32-4396-8000-D66754A84EA4}"/>
              </a:ext>
            </a:extLst>
          </p:cNvPr>
          <p:cNvSpPr/>
          <p:nvPr/>
        </p:nvSpPr>
        <p:spPr>
          <a:xfrm>
            <a:off x="8238930" y="5398097"/>
            <a:ext cx="3480319" cy="864429"/>
          </a:xfrm>
          <a:prstGeom prst="borderCallout2">
            <a:avLst>
              <a:gd name="adj1" fmla="val 52376"/>
              <a:gd name="adj2" fmla="val -3044"/>
              <a:gd name="adj3" fmla="val 52332"/>
              <a:gd name="adj4" fmla="val -36231"/>
              <a:gd name="adj5" fmla="val 52301"/>
              <a:gd name="adj6" fmla="val -39422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只更新物体或摄像机参数，不重新绘制，新的参数就无法起作用</a:t>
            </a:r>
          </a:p>
        </p:txBody>
      </p:sp>
      <p:sp>
        <p:nvSpPr>
          <p:cNvPr id="14" name="标注: 弯曲线形 13">
            <a:extLst>
              <a:ext uri="{FF2B5EF4-FFF2-40B4-BE49-F238E27FC236}">
                <a16:creationId xmlns:a16="http://schemas.microsoft.com/office/drawing/2014/main" id="{216ECC73-A4A5-491E-A001-34D8BF896D48}"/>
              </a:ext>
            </a:extLst>
          </p:cNvPr>
          <p:cNvSpPr/>
          <p:nvPr/>
        </p:nvSpPr>
        <p:spPr>
          <a:xfrm>
            <a:off x="8352452" y="2197414"/>
            <a:ext cx="3253274" cy="507128"/>
          </a:xfrm>
          <a:prstGeom prst="borderCallout2">
            <a:avLst>
              <a:gd name="adj1" fmla="val 52376"/>
              <a:gd name="adj2" fmla="val -3044"/>
              <a:gd name="adj3" fmla="val 192164"/>
              <a:gd name="adj4" fmla="val -15051"/>
              <a:gd name="adj5" fmla="val 192133"/>
              <a:gd name="adj6" fmla="val -36473"/>
            </a:avLst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旧坐标值保存在全局变量中</a:t>
            </a:r>
          </a:p>
        </p:txBody>
      </p:sp>
    </p:spTree>
    <p:extLst>
      <p:ext uri="{BB962C8B-B14F-4D97-AF65-F5344CB8AC3E}">
        <p14:creationId xmlns:p14="http://schemas.microsoft.com/office/powerpoint/2010/main" val="3227223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1EA1-48D4-4984-87CC-260CC17C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074"/>
            <a:ext cx="10515600" cy="103249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键盘输入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0C1C45-C40A-4B50-8E4C-5754E4A4C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241572"/>
            <a:ext cx="8972550" cy="1153212"/>
          </a:xfrm>
          <a:prstGeom prst="rect">
            <a:avLst/>
          </a:prstGeom>
        </p:spPr>
      </p:pic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DDB93305-B51B-452D-9A7A-B6D8713E99E2}"/>
              </a:ext>
            </a:extLst>
          </p:cNvPr>
          <p:cNvSpPr/>
          <p:nvPr/>
        </p:nvSpPr>
        <p:spPr>
          <a:xfrm>
            <a:off x="8276253" y="826682"/>
            <a:ext cx="1632857" cy="41489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鼠标坐标</a:t>
            </a:r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F2FB642C-B569-47D0-85F7-881EF0BC92FE}"/>
              </a:ext>
            </a:extLst>
          </p:cNvPr>
          <p:cNvSpPr/>
          <p:nvPr/>
        </p:nvSpPr>
        <p:spPr>
          <a:xfrm>
            <a:off x="6096000" y="826682"/>
            <a:ext cx="2180253" cy="414890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键盘按键</a:t>
            </a:r>
            <a:r>
              <a:rPr lang="en-US" altLang="zh-CN" dirty="0">
                <a:solidFill>
                  <a:schemeClr val="tx1"/>
                </a:solidFill>
              </a:rPr>
              <a:t>ASCII</a:t>
            </a:r>
            <a:r>
              <a:rPr lang="zh-CN" altLang="en-US" dirty="0">
                <a:solidFill>
                  <a:schemeClr val="tx1"/>
                </a:solidFill>
              </a:rPr>
              <a:t>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B723AB-CE0B-430E-9B68-FA2FD807B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2475214"/>
            <a:ext cx="4776103" cy="4173712"/>
          </a:xfrm>
          <a:prstGeom prst="rect">
            <a:avLst/>
          </a:prstGeom>
        </p:spPr>
      </p:pic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186D1F20-29B1-4B91-8F11-EFBC431A8D76}"/>
              </a:ext>
            </a:extLst>
          </p:cNvPr>
          <p:cNvSpPr/>
          <p:nvPr/>
        </p:nvSpPr>
        <p:spPr>
          <a:xfrm>
            <a:off x="6707603" y="3284682"/>
            <a:ext cx="3397450" cy="2740253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对键盘按键类型分别处理：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a…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b…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c…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最后通知程序窗口重新绘制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3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894</Words>
  <Application>Microsoft Office PowerPoint</Application>
  <PresentationFormat>宽屏</PresentationFormat>
  <Paragraphs>164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Arial</vt:lpstr>
      <vt:lpstr>Consolas</vt:lpstr>
      <vt:lpstr>Office 主题​​</vt:lpstr>
      <vt:lpstr>计算机图形学实验</vt:lpstr>
      <vt:lpstr>程序结构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投影</vt:lpstr>
      <vt:lpstr>投影</vt:lpstr>
      <vt:lpstr>投影</vt:lpstr>
      <vt:lpstr>投影</vt:lpstr>
      <vt:lpstr>观察变换</vt:lpstr>
      <vt:lpstr>观察变换</vt:lpstr>
      <vt:lpstr>观察变换</vt:lpstr>
      <vt:lpstr>鼠标输入</vt:lpstr>
      <vt:lpstr>鼠标输入</vt:lpstr>
      <vt:lpstr>鼠标输入</vt:lpstr>
      <vt:lpstr>键盘输入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计算机图形学实验</dc:title>
  <dc:creator>Koishi VV</dc:creator>
  <cp:lastModifiedBy>Hua Yan</cp:lastModifiedBy>
  <cp:revision>35</cp:revision>
  <dcterms:created xsi:type="dcterms:W3CDTF">2021-10-12T05:45:40Z</dcterms:created>
  <dcterms:modified xsi:type="dcterms:W3CDTF">2025-10-29T13:46:36Z</dcterms:modified>
</cp:coreProperties>
</file>