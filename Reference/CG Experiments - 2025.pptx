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3"/>
  </p:notesMasterIdLst>
  <p:sldIdLst>
    <p:sldId id="284" r:id="rId2"/>
    <p:sldId id="281" r:id="rId3"/>
    <p:sldId id="308" r:id="rId4"/>
    <p:sldId id="289" r:id="rId5"/>
    <p:sldId id="290" r:id="rId6"/>
    <p:sldId id="291" r:id="rId7"/>
    <p:sldId id="324" r:id="rId8"/>
    <p:sldId id="336" r:id="rId9"/>
    <p:sldId id="337" r:id="rId10"/>
    <p:sldId id="338" r:id="rId11"/>
    <p:sldId id="339" r:id="rId12"/>
    <p:sldId id="340" r:id="rId13"/>
    <p:sldId id="330" r:id="rId14"/>
    <p:sldId id="327" r:id="rId15"/>
    <p:sldId id="331" r:id="rId16"/>
    <p:sldId id="312" r:id="rId17"/>
    <p:sldId id="314" r:id="rId18"/>
    <p:sldId id="315" r:id="rId19"/>
    <p:sldId id="313" r:id="rId20"/>
    <p:sldId id="316" r:id="rId21"/>
    <p:sldId id="317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9D44DE3-0AA9-4B74-80BD-0440FB95049C}">
          <p14:sldIdLst>
            <p14:sldId id="284"/>
            <p14:sldId id="281"/>
            <p14:sldId id="308"/>
            <p14:sldId id="289"/>
            <p14:sldId id="290"/>
            <p14:sldId id="291"/>
            <p14:sldId id="324"/>
            <p14:sldId id="336"/>
            <p14:sldId id="337"/>
            <p14:sldId id="338"/>
            <p14:sldId id="339"/>
            <p14:sldId id="340"/>
            <p14:sldId id="330"/>
            <p14:sldId id="327"/>
            <p14:sldId id="331"/>
            <p14:sldId id="312"/>
            <p14:sldId id="314"/>
            <p14:sldId id="315"/>
            <p14:sldId id="313"/>
            <p14:sldId id="316"/>
            <p14:sldId id="317"/>
          </p14:sldIdLst>
        </p14:section>
        <p14:section name="Appendix" id="{ADE6F368-A40D-4EBC-816D-47F6FF9A994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816" autoAdjust="0"/>
  </p:normalViewPr>
  <p:slideViewPr>
    <p:cSldViewPr>
      <p:cViewPr varScale="1">
        <p:scale>
          <a:sx n="52" d="100"/>
          <a:sy n="52" d="100"/>
        </p:scale>
        <p:origin x="1505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16C5CA2-A772-42A4-9209-9D79F9E8F9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6C5CA2-A772-42A4-9209-9D79F9E8F901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3877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EEEA66-1A08-4166-B215-763341DAEB45}" type="slidenum">
              <a:rPr lang="en-US" altLang="zh-CN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18F15B0-85A8-4D9B-A9BA-EA052ECCD6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502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E384DF-F0F0-4212-B9E3-1C45416AA2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3414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24D10-123C-4365-A8FB-AA4CF233D2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255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B0644-C7DD-4B89-9426-EFB07BA955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284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5947E-73B3-42B7-96A7-C84D2BE644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90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38EF5-E32D-48C3-BEE3-BC2F8F6D70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02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DA8D4-ED16-4076-8B48-9B52ED691E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53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FDB18-766C-4B1B-AA45-7AB4073BCB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110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26027-7C3E-4C57-B282-B91B26FD6F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738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03EA1-53F6-4469-B6C6-CBE88C7A81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48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4DD63-DE56-4544-8B15-C2D0F447D0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249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56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078B3FD8-E57F-446A-8754-DF0FA9AC6D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pengl.org/resource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zh-cn/visualstudio/ide/?view=vs-202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计算机图形学实验</a:t>
            </a:r>
          </a:p>
        </p:txBody>
      </p:sp>
      <p:sp>
        <p:nvSpPr>
          <p:cNvPr id="4099" name="副标题 2"/>
          <p:cNvSpPr>
            <a:spLocks noGrp="1"/>
          </p:cNvSpPr>
          <p:nvPr>
            <p:ph type="subTitle" idx="1"/>
          </p:nvPr>
        </p:nvSpPr>
        <p:spPr>
          <a:xfrm>
            <a:off x="1979613" y="3500438"/>
            <a:ext cx="4464050" cy="2808287"/>
          </a:xfrm>
        </p:spPr>
        <p:txBody>
          <a:bodyPr/>
          <a:lstStyle/>
          <a:p>
            <a:pPr algn="r">
              <a:lnSpc>
                <a:spcPct val="80000"/>
              </a:lnSpc>
            </a:pPr>
            <a:endParaRPr lang="en-US" altLang="zh-CN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536575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>
                <a:solidFill>
                  <a:schemeClr val="tx1"/>
                </a:solidFill>
              </a:rPr>
              <a:t>实验安排</a:t>
            </a:r>
            <a:endParaRPr lang="en-US" altLang="zh-CN" sz="3800">
              <a:solidFill>
                <a:schemeClr val="tx1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783225"/>
            <a:ext cx="7993063" cy="431958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学时数</a:t>
            </a:r>
            <a:r>
              <a:rPr lang="en-US" altLang="zh-CN" sz="2800" b="1" dirty="0">
                <a:latin typeface="Microsoft Sans Serif" panose="020B0604020202020204" pitchFamily="34" charset="0"/>
              </a:rPr>
              <a:t>: 16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类型：个人实验</a:t>
            </a: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两个实验：</a:t>
            </a:r>
            <a:r>
              <a:rPr lang="en-US" altLang="zh-CN" sz="2800" b="1" dirty="0">
                <a:latin typeface="Microsoft Sans Serif" panose="020B0604020202020204" pitchFamily="34" charset="0"/>
              </a:rPr>
              <a:t>70%+30%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地点：主楼</a:t>
            </a:r>
            <a:r>
              <a:rPr lang="en-US" altLang="zh-CN" sz="2800" b="1" dirty="0">
                <a:latin typeface="Microsoft Sans Serif" panose="020B0604020202020204" pitchFamily="34" charset="0"/>
              </a:rPr>
              <a:t>: A2 – 412</a:t>
            </a:r>
            <a:endParaRPr lang="en-US" altLang="zh-CN" sz="2800" b="1" dirty="0">
              <a:solidFill>
                <a:srgbClr val="FF0000"/>
              </a:solidFill>
              <a:latin typeface="Microsoft Sans Serif" panose="020B0604020202020204" pitchFamily="34" charset="0"/>
            </a:endParaRPr>
          </a:p>
          <a:p>
            <a:pPr marL="400050" lvl="1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70C0"/>
                </a:solidFill>
              </a:rPr>
              <a:t>第九周，周四上午 </a:t>
            </a:r>
            <a:r>
              <a:rPr lang="en-US" altLang="zh-CN" sz="2400" b="1" dirty="0">
                <a:solidFill>
                  <a:srgbClr val="0070C0"/>
                </a:solidFill>
              </a:rPr>
              <a:t>8:30 – 11:30</a:t>
            </a:r>
          </a:p>
          <a:p>
            <a:pPr marL="400050" lvl="1" indent="0"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	</a:t>
            </a:r>
            <a:r>
              <a:rPr lang="zh-CN" altLang="en-US" sz="2400" b="1" dirty="0">
                <a:solidFill>
                  <a:srgbClr val="0070C0"/>
                </a:solidFill>
              </a:rPr>
              <a:t>第十周，周四上午 </a:t>
            </a:r>
            <a:r>
              <a:rPr lang="en-US" altLang="zh-CN" sz="2400" b="1" dirty="0">
                <a:solidFill>
                  <a:srgbClr val="0070C0"/>
                </a:solidFill>
              </a:rPr>
              <a:t>8:30 – 11:30</a:t>
            </a:r>
          </a:p>
          <a:p>
            <a:pPr marL="400050" lvl="1" indent="0"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	</a:t>
            </a:r>
            <a:r>
              <a:rPr lang="zh-CN" altLang="en-US" sz="2400" b="1" u="sng" dirty="0">
                <a:solidFill>
                  <a:srgbClr val="0070C0"/>
                </a:solidFill>
              </a:rPr>
              <a:t>第十一周，</a:t>
            </a:r>
            <a:r>
              <a:rPr lang="zh-CN" altLang="en-US" sz="2400" b="1" dirty="0">
                <a:solidFill>
                  <a:srgbClr val="0070C0"/>
                </a:solidFill>
              </a:rPr>
              <a:t>周四上午 </a:t>
            </a:r>
            <a:r>
              <a:rPr lang="en-US" altLang="zh-CN" sz="2400" b="1" dirty="0">
                <a:solidFill>
                  <a:srgbClr val="0070C0"/>
                </a:solidFill>
              </a:rPr>
              <a:t>8:30 – 11:30 </a:t>
            </a:r>
          </a:p>
          <a:p>
            <a:pPr marL="400050" lvl="1" indent="0" eaLnBrk="1" hangingPunct="1">
              <a:lnSpc>
                <a:spcPct val="130000"/>
              </a:lnSpc>
              <a:buNone/>
            </a:pPr>
            <a:r>
              <a:rPr lang="en-US" altLang="zh-CN" sz="2400" b="1" u="sng" dirty="0">
                <a:solidFill>
                  <a:srgbClr val="0070C0"/>
                </a:solidFill>
              </a:rPr>
              <a:t>	</a:t>
            </a:r>
            <a:r>
              <a:rPr lang="zh-CN" altLang="en-US" sz="2400" b="1" u="sng" dirty="0">
                <a:solidFill>
                  <a:srgbClr val="0070C0"/>
                </a:solidFill>
              </a:rPr>
              <a:t>第十二周，周四上午 </a:t>
            </a:r>
            <a:r>
              <a:rPr lang="en-US" altLang="zh-CN" sz="2400" b="1" dirty="0">
                <a:solidFill>
                  <a:srgbClr val="0070C0"/>
                </a:solidFill>
              </a:rPr>
              <a:t>8:30 – 11:30</a:t>
            </a:r>
            <a:endParaRPr lang="en-US" altLang="zh-CN" sz="2400" b="1" u="sng" dirty="0">
              <a:solidFill>
                <a:srgbClr val="0070C0"/>
              </a:solidFill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zh-CN" sz="2800" b="1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536575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>
                <a:solidFill>
                  <a:schemeClr val="tx1"/>
                </a:solidFill>
              </a:rPr>
              <a:t>实验安排</a:t>
            </a:r>
            <a:endParaRPr lang="en-US" altLang="zh-CN" sz="3800">
              <a:solidFill>
                <a:schemeClr val="tx1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7993063" cy="4319587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Microsoft Sans Serif" panose="020B0604020202020204" pitchFamily="34" charset="0"/>
              </a:rPr>
              <a:t>注意事项</a:t>
            </a:r>
            <a:endParaRPr lang="en-US" altLang="zh-CN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latin typeface="Microsoft Sans Serif" panose="020B0604020202020204" pitchFamily="34" charset="0"/>
              </a:rPr>
              <a:t>每次实验室课需登录实验系统签到</a:t>
            </a:r>
            <a:endParaRPr lang="en-US" altLang="zh-CN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latin typeface="Microsoft Sans Serif" panose="020B0604020202020204" pitchFamily="34" charset="0"/>
              </a:rPr>
              <a:t>实验效果演示时间：</a:t>
            </a:r>
            <a:r>
              <a:rPr lang="zh-CN" altLang="en-US" b="1" dirty="0">
                <a:solidFill>
                  <a:srgbClr val="0070C0"/>
                </a:solidFill>
                <a:latin typeface="Microsoft Sans Serif" panose="020B0604020202020204" pitchFamily="34" charset="0"/>
              </a:rPr>
              <a:t>待定</a:t>
            </a:r>
            <a:endParaRPr lang="en-US" altLang="zh-CN" b="1" dirty="0">
              <a:solidFill>
                <a:srgbClr val="0070C0"/>
              </a:solidFill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latin typeface="Microsoft Sans Serif" panose="020B0604020202020204" pitchFamily="34" charset="0"/>
              </a:rPr>
              <a:t>实验报告提交截止时间：</a:t>
            </a:r>
            <a:r>
              <a:rPr lang="zh-CN" altLang="en-US" b="1" dirty="0">
                <a:solidFill>
                  <a:srgbClr val="0070C0"/>
                </a:solidFill>
                <a:latin typeface="Microsoft Sans Serif" panose="020B0604020202020204" pitchFamily="34" charset="0"/>
              </a:rPr>
              <a:t>十四周 周日</a:t>
            </a:r>
            <a:endParaRPr lang="en-US" altLang="zh-CN" b="1" dirty="0">
              <a:solidFill>
                <a:srgbClr val="0070C0"/>
              </a:solidFill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zh-CN" sz="2800" b="1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536575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>
                <a:solidFill>
                  <a:schemeClr val="tx1"/>
                </a:solidFill>
              </a:rPr>
              <a:t>实验环境</a:t>
            </a:r>
            <a:endParaRPr lang="en-US" altLang="zh-CN" sz="3800">
              <a:solidFill>
                <a:schemeClr val="tx1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7848600" cy="4248150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Microsoft Sans Serif" panose="020B0604020202020204" pitchFamily="34" charset="0"/>
              </a:rPr>
              <a:t>Visual Studio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</a:rPr>
              <a:t>Visual Studio  20xx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Microsoft Sans Serif" panose="020B0604020202020204" pitchFamily="34" charset="0"/>
              </a:rPr>
              <a:t>OpenGL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  <a:hlinkClick r:id="rId2"/>
              </a:rPr>
              <a:t>https://www.opengl.org/resources/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教材 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 OpenGL 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简介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Microsoft Sans Serif" panose="020B0604020202020204" pitchFamily="34" charset="0"/>
              </a:rPr>
              <a:t>Code::Blocks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</a:rPr>
              <a:t>http://www.codeblocks.org/</a:t>
            </a: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zh-CN" sz="2800" b="1" dirty="0">
              <a:latin typeface="Microsoft Sans Serif" panose="020B0604020202020204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79375"/>
            <a:ext cx="3028950" cy="381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65532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>
                <a:solidFill>
                  <a:schemeClr val="tx1"/>
                </a:solidFill>
              </a:rPr>
              <a:t>实验环境</a:t>
            </a:r>
            <a:endParaRPr lang="en-US" altLang="zh-CN" sz="3800">
              <a:solidFill>
                <a:schemeClr val="tx1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7848600" cy="4248150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latin typeface="Microsoft Sans Serif" panose="020B0604020202020204" pitchFamily="34" charset="0"/>
              </a:rPr>
              <a:t>OpenGL related files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opengl32.lib,  opengl32.dll, gl.h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glu32.lib, glu32.dll, glu.h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glut32.lib, glut32.dll, glut.h</a:t>
            </a:r>
          </a:p>
          <a:p>
            <a:pPr eaLnBrk="1" hangingPunct="1">
              <a:lnSpc>
                <a:spcPct val="130000"/>
              </a:lnSpc>
            </a:pPr>
            <a:endParaRPr lang="en-US" altLang="zh-CN" sz="2800" b="1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zh-CN" sz="2800" b="1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65532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 dirty="0">
                <a:solidFill>
                  <a:schemeClr val="tx1"/>
                </a:solidFill>
              </a:rPr>
              <a:t>实验环境</a:t>
            </a:r>
            <a:endParaRPr lang="en-US" altLang="zh-CN" sz="3800" dirty="0">
              <a:solidFill>
                <a:schemeClr val="tx1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916832"/>
            <a:ext cx="7848600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latin typeface="Microsoft Sans Serif" pitchFamily="34" charset="0"/>
              </a:rPr>
              <a:t>Visual Studio  </a:t>
            </a:r>
            <a:r>
              <a:rPr lang="zh-CN" altLang="en-US" sz="2800" b="1" dirty="0">
                <a:latin typeface="Microsoft Sans Serif" pitchFamily="34" charset="0"/>
              </a:rPr>
              <a:t>开发环境配置</a:t>
            </a:r>
            <a:endParaRPr lang="en-US" altLang="zh-CN" sz="28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dirty="0">
                <a:hlinkClick r:id="rId2"/>
              </a:rPr>
              <a:t>Visual Studio IDE </a:t>
            </a:r>
            <a:r>
              <a:rPr lang="zh-CN" altLang="en-US" sz="2400" dirty="0">
                <a:hlinkClick r:id="rId2"/>
              </a:rPr>
              <a:t>文档 </a:t>
            </a:r>
            <a:r>
              <a:rPr lang="en-US" altLang="zh-CN" sz="2400" dirty="0">
                <a:hlinkClick r:id="rId2"/>
              </a:rPr>
              <a:t>| Microsoft Learn</a:t>
            </a:r>
            <a:endParaRPr lang="en-US" altLang="zh-CN" sz="24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实验环境配置</a:t>
            </a:r>
            <a:endParaRPr lang="en-US" altLang="zh-CN" sz="28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b="1" dirty="0">
                <a:latin typeface="Microsoft Sans Serif" panose="020B0604020202020204" pitchFamily="34" charset="0"/>
              </a:rPr>
              <a:t>《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计算机图形学实验指导书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v2.x》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实验环境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--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配置步骤</a:t>
            </a:r>
            <a:endParaRPr lang="en-US" altLang="zh-CN" sz="24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Microsoft Sans Serif" panose="020B0604020202020204" pitchFamily="34" charset="0"/>
              </a:rPr>
              <a:t>环境验证</a:t>
            </a:r>
            <a:endParaRPr lang="en-US" altLang="zh-CN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</a:rPr>
              <a:t>《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计算机图形学实验指导书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v2.x》 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实验环境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--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环境验证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en-US" altLang="zh-CN" sz="28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endParaRPr lang="en-US" altLang="zh-CN" sz="24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endParaRPr lang="en-US" altLang="zh-CN" sz="24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zh-CN" altLang="zh-CN" sz="2800" b="1" dirty="0">
              <a:latin typeface="Microsoft Sans Serif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6327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实验一   三维图形绘制与变换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352730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学时数：</a:t>
            </a:r>
            <a:r>
              <a:rPr lang="en-US" altLang="zh-CN" sz="2800" b="1" dirty="0">
                <a:latin typeface="Microsoft Sans Serif" pitchFamily="34" charset="0"/>
              </a:rPr>
              <a:t>10</a:t>
            </a:r>
            <a:r>
              <a:rPr lang="zh-CN" altLang="en-US" sz="2800" b="1" dirty="0">
                <a:latin typeface="Microsoft Sans Serif" pitchFamily="34" charset="0"/>
              </a:rPr>
              <a:t>学时</a:t>
            </a:r>
            <a:endParaRPr lang="en-US" altLang="zh-CN" sz="28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实验目的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    1</a:t>
            </a:r>
            <a:r>
              <a:rPr lang="zh-CN" altLang="en-US" sz="2400" b="1" dirty="0">
                <a:latin typeface="Microsoft Sans Serif" pitchFamily="34" charset="0"/>
              </a:rPr>
              <a:t>）熟悉</a:t>
            </a:r>
            <a:r>
              <a:rPr lang="en-US" altLang="zh-CN" sz="2400" b="1" dirty="0">
                <a:latin typeface="Microsoft Sans Serif" pitchFamily="34" charset="0"/>
              </a:rPr>
              <a:t>OpenGL </a:t>
            </a:r>
            <a:r>
              <a:rPr lang="zh-CN" altLang="en-US" sz="2400" b="1" dirty="0">
                <a:latin typeface="Microsoft Sans Serif" pitchFamily="34" charset="0"/>
              </a:rPr>
              <a:t>图形绘制管线与编程模式；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     2</a:t>
            </a:r>
            <a:r>
              <a:rPr lang="zh-CN" altLang="en-US" sz="2400" b="1" dirty="0">
                <a:latin typeface="Microsoft Sans Serif" pitchFamily="34" charset="0"/>
              </a:rPr>
              <a:t>）熟悉</a:t>
            </a:r>
            <a:r>
              <a:rPr lang="en-US" altLang="zh-CN" sz="2400" b="1" dirty="0">
                <a:latin typeface="Microsoft Sans Serif" pitchFamily="34" charset="0"/>
              </a:rPr>
              <a:t>OpenGL</a:t>
            </a:r>
            <a:r>
              <a:rPr lang="zh-CN" altLang="en-US" sz="2400" b="1" dirty="0">
                <a:latin typeface="Microsoft Sans Serif" pitchFamily="34" charset="0"/>
              </a:rPr>
              <a:t>图元函数的使用；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0" indent="0" eaLnBrk="1" hangingPunct="1">
              <a:lnSpc>
                <a:spcPct val="130000"/>
              </a:lnSpc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     3</a:t>
            </a:r>
            <a:r>
              <a:rPr lang="zh-CN" altLang="en-US" sz="2400" b="1" dirty="0">
                <a:latin typeface="Microsoft Sans Serif" pitchFamily="34" charset="0"/>
              </a:rPr>
              <a:t>）熟悉</a:t>
            </a:r>
            <a:r>
              <a:rPr lang="en-US" altLang="zh-CN" sz="2400" b="1" dirty="0">
                <a:latin typeface="Microsoft Sans Serif" pitchFamily="34" charset="0"/>
              </a:rPr>
              <a:t>OpenGL </a:t>
            </a:r>
            <a:r>
              <a:rPr lang="zh-CN" altLang="en-US" sz="2400" b="1" dirty="0">
                <a:latin typeface="Microsoft Sans Serif" pitchFamily="34" charset="0"/>
              </a:rPr>
              <a:t>几何变换函数，实现</a:t>
            </a:r>
            <a:r>
              <a:rPr lang="en-US" altLang="zh-CN" sz="2400" b="1" dirty="0">
                <a:latin typeface="Microsoft Sans Serif" pitchFamily="34" charset="0"/>
              </a:rPr>
              <a:t>3D</a:t>
            </a:r>
            <a:r>
              <a:rPr lang="zh-CN" altLang="en-US" sz="2400" b="1" dirty="0">
                <a:latin typeface="Microsoft Sans Serif" pitchFamily="34" charset="0"/>
              </a:rPr>
              <a:t>图形的平移、旋转和缩放效果 ；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0" indent="0" eaLnBrk="1" hangingPunct="1">
              <a:lnSpc>
                <a:spcPct val="130000"/>
              </a:lnSpc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     4</a:t>
            </a:r>
            <a:r>
              <a:rPr lang="zh-CN" altLang="en-US" sz="2400" b="1" dirty="0">
                <a:latin typeface="Microsoft Sans Serif" pitchFamily="34" charset="0"/>
              </a:rPr>
              <a:t>）熟悉</a:t>
            </a:r>
            <a:r>
              <a:rPr lang="en-US" altLang="zh-CN" sz="2400" b="1" dirty="0">
                <a:latin typeface="Microsoft Sans Serif" pitchFamily="34" charset="0"/>
              </a:rPr>
              <a:t>OpenGL </a:t>
            </a:r>
            <a:r>
              <a:rPr lang="zh-CN" altLang="en-US" sz="2400" b="1" dirty="0">
                <a:latin typeface="Microsoft Sans Serif" pitchFamily="34" charset="0"/>
              </a:rPr>
              <a:t>观察变换函数，生成</a:t>
            </a:r>
            <a:r>
              <a:rPr lang="en-US" altLang="zh-CN" sz="2400" b="1" dirty="0">
                <a:latin typeface="Microsoft Sans Serif" pitchFamily="34" charset="0"/>
              </a:rPr>
              <a:t>3D</a:t>
            </a:r>
            <a:r>
              <a:rPr lang="zh-CN" altLang="en-US" sz="2400" b="1" dirty="0">
                <a:latin typeface="Microsoft Sans Serif" pitchFamily="34" charset="0"/>
              </a:rPr>
              <a:t>图形的不同视图。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zh-CN" altLang="zh-CN" sz="2400" b="1" dirty="0">
              <a:latin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3248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000"/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2000"/>
                                        <p:tgtEl>
                                          <p:spTgt spid="97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6327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实验一   三维图形绘制与变换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2"/>
            <a:ext cx="8064698" cy="475324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实验内容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1</a:t>
            </a:r>
            <a:r>
              <a:rPr lang="zh-CN" altLang="en-US" sz="2400" b="1" dirty="0">
                <a:latin typeface="Microsoft Sans Serif" pitchFamily="34" charset="0"/>
              </a:rPr>
              <a:t>）设计一个三维场景，包含至少一个及以上的三维物体，生成视图。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2</a:t>
            </a:r>
            <a:r>
              <a:rPr lang="zh-CN" altLang="en-US" sz="2400" b="1" dirty="0">
                <a:latin typeface="Microsoft Sans Serif" pitchFamily="34" charset="0"/>
              </a:rPr>
              <a:t>）设计交互接口使得用户可对</a:t>
            </a:r>
            <a:r>
              <a:rPr lang="en-US" altLang="zh-CN" sz="2400" b="1" dirty="0">
                <a:latin typeface="Microsoft Sans Serif" pitchFamily="34" charset="0"/>
              </a:rPr>
              <a:t>3D</a:t>
            </a:r>
            <a:r>
              <a:rPr lang="zh-CN" altLang="en-US" sz="2400" b="1" dirty="0">
                <a:latin typeface="Microsoft Sans Serif" pitchFamily="34" charset="0"/>
              </a:rPr>
              <a:t>图形进行平移、旋转、缩放操作，生成视图。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3</a:t>
            </a:r>
            <a:r>
              <a:rPr lang="zh-CN" altLang="en-US" sz="2400" b="1" dirty="0">
                <a:latin typeface="Microsoft Sans Serif" pitchFamily="34" charset="0"/>
              </a:rPr>
              <a:t>）设计交互接口使得用户可调整相机位置和视线方向，生成不同的视图。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Microsoft Sans Serif" pitchFamily="34" charset="0"/>
              </a:rPr>
              <a:t>几何变换与观察变换可二选一</a:t>
            </a:r>
            <a:endParaRPr lang="en-US" altLang="zh-CN" sz="2400" b="1" dirty="0">
              <a:solidFill>
                <a:srgbClr val="FF0000"/>
              </a:solidFill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sz="24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endParaRPr lang="zh-CN" altLang="zh-CN" sz="2400" b="1" dirty="0">
              <a:latin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471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2000"/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6327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实验一   三维图形绘制与变换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064698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实验要求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latin typeface="Microsoft Sans Serif" pitchFamily="34" charset="0"/>
              </a:rPr>
              <a:t>1</a:t>
            </a:r>
            <a:r>
              <a:rPr lang="zh-CN" altLang="en-US" sz="2400" b="1" dirty="0">
                <a:latin typeface="Microsoft Sans Serif" pitchFamily="34" charset="0"/>
              </a:rPr>
              <a:t>）三维场景绘制部分</a:t>
            </a:r>
            <a:endParaRPr lang="en-US" altLang="zh-CN" sz="24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完成实验四的立方体绘制，显示立方体一个以上的表面，或者展示不同方向观察到立方体的表面，得基准分；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实现的三维场景包含多个三维物体，加分；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通过导入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3D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模型数据文件，绘制复杂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3D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物体，加分。</a:t>
            </a: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zh-CN" altLang="zh-CN" sz="2400" b="1" dirty="0">
              <a:latin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057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2000"/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6327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实验一   三维图形绘制与变换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064698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实验要求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2</a:t>
            </a:r>
            <a:r>
              <a:rPr lang="zh-CN" altLang="en-US" sz="2400" b="1" dirty="0">
                <a:latin typeface="Microsoft Sans Serif" pitchFamily="34" charset="0"/>
              </a:rPr>
              <a:t>）三维图形变换部分，可几何变换、观察变换二选一</a:t>
            </a:r>
            <a:endParaRPr lang="en-US" altLang="zh-CN" sz="24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基于实验一，实现实验五的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3D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图形几何变换结果，不支持交互，得基准分；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设计键盘或鼠标交互接口，改变图形几何变换的参数，实现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3D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图形的</a:t>
            </a:r>
            <a:r>
              <a:rPr lang="zh-CN" altLang="en-US" sz="2400" b="1" dirty="0">
                <a:solidFill>
                  <a:srgbClr val="FF0000"/>
                </a:solidFill>
                <a:latin typeface="Microsoft Sans Serif" panose="020B0604020202020204" pitchFamily="34" charset="0"/>
              </a:rPr>
              <a:t>平移、旋转和缩放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，加分；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zh-CN" altLang="zh-CN" sz="2400" b="1" dirty="0">
              <a:latin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4221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6327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实验一   三维图形绘制与变换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2"/>
            <a:ext cx="8064698" cy="4609231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实验要求</a:t>
            </a:r>
            <a:endParaRPr lang="en-US" altLang="zh-CN" sz="28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基于实验一的结果，参考实验七，设计键盘或鼠标交互接口，调整观察变换参数，生成不同的视图；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生成正平行投影三视图、透视投影视图，得基准分；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实现相机漫游功能，加分；生成斜平行投影视图，加分；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latin typeface="Microsoft Sans Serif" panose="020B0604020202020204" pitchFamily="34" charset="0"/>
              </a:rPr>
              <a:t>3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）屏幕窗口变化，图形不变形，程序能正常退出。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zh-CN" altLang="zh-CN" sz="2400" b="1" dirty="0">
              <a:latin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51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2000"/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632700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实验一   三维图形绘制与变换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2"/>
            <a:ext cx="8064698" cy="4609231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实验参考</a:t>
            </a:r>
            <a:endParaRPr lang="en-US" altLang="zh-CN" sz="28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教材第四章、十三章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实验指导书</a:t>
            </a:r>
            <a:r>
              <a:rPr lang="zh-CN" altLang="en-US" sz="2400" b="1" dirty="0">
                <a:solidFill>
                  <a:srgbClr val="FF0000"/>
                </a:solidFill>
                <a:latin typeface="Microsoft Sans Serif" panose="020B0604020202020204" pitchFamily="34" charset="0"/>
              </a:rPr>
              <a:t>实验四、实验十、实验五、实验六、实验七</a:t>
            </a:r>
            <a:endParaRPr lang="en-US" altLang="zh-CN" sz="2400" b="1" dirty="0">
              <a:solidFill>
                <a:srgbClr val="FF0000"/>
              </a:solidFill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rgbClr val="FF0000"/>
              </a:solidFill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rgbClr val="FF0000"/>
              </a:solidFill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rgbClr val="FF0000"/>
              </a:solidFill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</a:pPr>
            <a:endParaRPr lang="en-US" altLang="zh-CN" sz="2400" b="1" dirty="0">
              <a:latin typeface="Microsoft Sans Serif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sz="24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zh-CN" altLang="zh-CN" sz="2400" b="1" dirty="0">
              <a:latin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883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343775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>
                <a:solidFill>
                  <a:schemeClr val="tx1"/>
                </a:solidFill>
              </a:rPr>
              <a:t>实验一</a:t>
            </a:r>
            <a:endParaRPr lang="en-US" altLang="zh-CN" sz="380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208963" cy="4465637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</a:rPr>
              <a:t>Example</a:t>
            </a:r>
          </a:p>
          <a:p>
            <a:pPr lvl="1" eaLnBrk="1" hangingPunct="1">
              <a:lnSpc>
                <a:spcPct val="130000"/>
              </a:lnSpc>
            </a:pPr>
            <a:endParaRPr lang="zh-CN" altLang="zh-CN" sz="2400" b="1" dirty="0">
              <a:latin typeface="Microsoft Sans Serif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24944"/>
            <a:ext cx="3725052" cy="273630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169" y="2723786"/>
            <a:ext cx="3683867" cy="293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8752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343775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>
                <a:solidFill>
                  <a:schemeClr val="tx1"/>
                </a:solidFill>
              </a:rPr>
              <a:t>实验一</a:t>
            </a:r>
            <a:endParaRPr lang="en-US" altLang="zh-CN" sz="380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208963" cy="4465637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</a:rPr>
              <a:t>Example</a:t>
            </a:r>
          </a:p>
          <a:p>
            <a:pPr lvl="1" eaLnBrk="1" hangingPunct="1">
              <a:lnSpc>
                <a:spcPct val="130000"/>
              </a:lnSpc>
            </a:pPr>
            <a:endParaRPr lang="zh-CN" altLang="zh-CN" sz="2400" b="1" dirty="0">
              <a:latin typeface="Microsoft Sans Serif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680929"/>
            <a:ext cx="5270771" cy="28385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124" y="4640175"/>
            <a:ext cx="5112568" cy="19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921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343775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>
                <a:solidFill>
                  <a:schemeClr val="tx1"/>
                </a:solidFill>
              </a:rPr>
              <a:t>实验一</a:t>
            </a:r>
            <a:endParaRPr lang="en-US" altLang="zh-CN" sz="380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208963" cy="4465637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</a:rPr>
              <a:t>Example</a:t>
            </a:r>
          </a:p>
          <a:p>
            <a:pPr lvl="1" eaLnBrk="1" hangingPunct="1">
              <a:lnSpc>
                <a:spcPct val="130000"/>
              </a:lnSpc>
            </a:pPr>
            <a:endParaRPr lang="zh-CN" altLang="zh-CN" sz="2400" b="1" dirty="0">
              <a:latin typeface="Microsoft Sans Serif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2348880"/>
            <a:ext cx="3695238" cy="3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9092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127875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 dirty="0">
                <a:solidFill>
                  <a:schemeClr val="tx1"/>
                </a:solidFill>
              </a:rPr>
              <a:t>实验二 贝塞尔曲线</a:t>
            </a:r>
            <a:endParaRPr lang="en-US" altLang="zh-CN" sz="38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7848600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学时数：</a:t>
            </a:r>
            <a:r>
              <a:rPr lang="en-US" altLang="zh-CN" sz="2800" b="1" dirty="0">
                <a:latin typeface="Microsoft Sans Serif" pitchFamily="34" charset="0"/>
              </a:rPr>
              <a:t>6 </a:t>
            </a:r>
            <a:r>
              <a:rPr lang="zh-CN" altLang="en-US" sz="2800" b="1" dirty="0">
                <a:latin typeface="Microsoft Sans Serif" pitchFamily="34" charset="0"/>
              </a:rPr>
              <a:t>学时</a:t>
            </a:r>
            <a:endParaRPr lang="en-US" altLang="zh-CN" sz="28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实验目的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     </a:t>
            </a:r>
            <a:r>
              <a:rPr lang="zh-CN" altLang="en-US" sz="2400" b="1" dirty="0">
                <a:latin typeface="Microsoft Sans Serif" pitchFamily="34" charset="0"/>
              </a:rPr>
              <a:t>巩固样条曲线</a:t>
            </a:r>
            <a:r>
              <a:rPr lang="en-US" altLang="zh-CN" sz="2400" b="1" dirty="0">
                <a:latin typeface="Microsoft Sans Serif" pitchFamily="34" charset="0"/>
              </a:rPr>
              <a:t>-</a:t>
            </a:r>
            <a:r>
              <a:rPr lang="zh-CN" altLang="en-US" sz="2400" b="1" dirty="0">
                <a:latin typeface="Microsoft Sans Serif" pitchFamily="34" charset="0"/>
              </a:rPr>
              <a:t>贝塞尔曲线构造原理，实现贝塞尔曲线的绘制。</a:t>
            </a:r>
            <a:endParaRPr lang="en-US" altLang="zh-CN" sz="24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实验内容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latin typeface="Microsoft Sans Serif" pitchFamily="34" charset="0"/>
              </a:rPr>
              <a:t>根据用户指定的控制点坐标，计算曲线函数系数，最终绘制出贝塞尔曲线</a:t>
            </a:r>
            <a:endParaRPr lang="en-US" altLang="zh-CN" sz="24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zh-CN" altLang="zh-CN" sz="2800" b="1" dirty="0">
              <a:latin typeface="Microsoft Sans Serif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2000"/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272337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 dirty="0">
                <a:solidFill>
                  <a:schemeClr val="tx1"/>
                </a:solidFill>
              </a:rPr>
              <a:t>实验二 贝塞尔曲线</a:t>
            </a:r>
            <a:endParaRPr lang="en-US" altLang="zh-CN" sz="3800" dirty="0">
              <a:solidFill>
                <a:schemeClr val="tx1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7848600" cy="4248150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基本功能要求</a:t>
            </a: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允许用户指定控制点的个数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控制点坐标的输入可采用键盘输入或鼠标操作指定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显示控制点位置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绘制出正确的曲线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程序能正常退出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完成上述基本功能，得基准分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zh-CN" sz="2800" b="1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272337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 dirty="0">
                <a:solidFill>
                  <a:schemeClr val="tx1"/>
                </a:solidFill>
              </a:rPr>
              <a:t>实验二 贝塞尔曲线</a:t>
            </a:r>
            <a:endParaRPr lang="en-US" altLang="zh-CN" sz="3800" dirty="0">
              <a:solidFill>
                <a:schemeClr val="tx1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28800"/>
            <a:ext cx="8208714" cy="4248150"/>
          </a:xfrm>
          <a:noFill/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可选功能</a:t>
            </a: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生成多条贝塞尔曲线，加分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当生成一条贝塞尔曲线后，可用鼠标移动控制点位置，实时生成新的曲线，加分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程序自动变化控制点位置，实时生成新的贝塞尔曲线，实现贝塞尔曲线动画，加分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Microsoft Sans Serif" panose="020B0604020202020204" pitchFamily="34" charset="0"/>
              </a:rPr>
              <a:t>Reference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Microsoft Sans Serif" panose="020B0604020202020204" pitchFamily="34" charset="0"/>
              </a:rPr>
              <a:t>教材第十四章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P323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latin typeface="Microsoft Sans Serif" panose="020B0604020202020204" pitchFamily="34" charset="0"/>
              </a:rPr>
              <a:t>《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计算机图形学实验指导书</a:t>
            </a:r>
            <a:r>
              <a:rPr lang="en-US" altLang="zh-CN" sz="2400" b="1" dirty="0">
                <a:latin typeface="Microsoft Sans Serif" panose="020B0604020202020204" pitchFamily="34" charset="0"/>
              </a:rPr>
              <a:t>v2.x》</a:t>
            </a:r>
            <a:r>
              <a:rPr lang="zh-CN" altLang="en-US" sz="2400" b="1" dirty="0">
                <a:latin typeface="Microsoft Sans Serif" panose="020B0604020202020204" pitchFamily="34" charset="0"/>
              </a:rPr>
              <a:t>实验八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</a:pP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zh-CN" sz="2800" b="1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127875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 dirty="0">
                <a:solidFill>
                  <a:schemeClr val="tx1"/>
                </a:solidFill>
              </a:rPr>
              <a:t>实验二 分形图形</a:t>
            </a:r>
            <a:endParaRPr lang="en-US" altLang="zh-CN" sz="38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7848600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学时数：</a:t>
            </a:r>
            <a:r>
              <a:rPr lang="en-US" altLang="zh-CN" sz="2800" b="1" dirty="0">
                <a:latin typeface="Microsoft Sans Serif" pitchFamily="34" charset="0"/>
              </a:rPr>
              <a:t>6 </a:t>
            </a:r>
            <a:r>
              <a:rPr lang="zh-CN" altLang="en-US" sz="2800" b="1" dirty="0">
                <a:latin typeface="Microsoft Sans Serif" pitchFamily="34" charset="0"/>
              </a:rPr>
              <a:t>学时</a:t>
            </a:r>
            <a:endParaRPr lang="en-US" altLang="zh-CN" sz="28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latin typeface="Microsoft Sans Serif" pitchFamily="34" charset="0"/>
              </a:rPr>
              <a:t>实验目的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Microsoft Sans Serif" pitchFamily="34" charset="0"/>
              </a:rPr>
              <a:t>     </a:t>
            </a:r>
            <a:r>
              <a:rPr lang="zh-CN" altLang="en-US" sz="2400" b="1" dirty="0">
                <a:latin typeface="Microsoft Sans Serif" pitchFamily="34" charset="0"/>
              </a:rPr>
              <a:t>学习各种分形图形构造方法，实现分形图形的绘制。 </a:t>
            </a:r>
            <a:endParaRPr lang="en-US" altLang="zh-CN" sz="2400" b="1" dirty="0">
              <a:latin typeface="Microsoft Sans Serif" pitchFamily="34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latin typeface="Microsoft Sans Serif" pitchFamily="34" charset="0"/>
              </a:rPr>
              <a:t>实验内容</a:t>
            </a:r>
            <a:endParaRPr lang="en-US" altLang="zh-CN" sz="2800" b="1" dirty="0">
              <a:latin typeface="Microsoft Sans Serif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latin typeface="Microsoft Sans Serif" pitchFamily="34" charset="0"/>
              </a:rPr>
              <a:t>重点学习和理解一种分形图形构造方法（算法），绘制出分形图形。</a:t>
            </a:r>
            <a:endParaRPr lang="zh-CN" altLang="zh-CN" sz="2400" b="1" dirty="0">
              <a:latin typeface="Microsoft Sans Serif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2000"/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127875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 dirty="0">
                <a:solidFill>
                  <a:schemeClr val="tx1"/>
                </a:solidFill>
              </a:rPr>
              <a:t>实验二 分形图形</a:t>
            </a:r>
            <a:endParaRPr lang="en-US" altLang="zh-CN" sz="38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916832"/>
            <a:ext cx="8604250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基本功能要求</a:t>
            </a: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键盘输入算法参数，绘制迭代产生的分形图形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停止迭代绘制，正常退出程序，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基准分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Microsoft Sans Serif" panose="020B0604020202020204" pitchFamily="34" charset="0"/>
              </a:rPr>
              <a:t>可选功能</a:t>
            </a: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按一定的时间间隔刷新图形，显示不同迭代次数所生成的分形图形，实现动画效果，加分</a:t>
            </a:r>
            <a:endParaRPr lang="en-US" altLang="zh-CN" sz="2400" b="1" dirty="0">
              <a:latin typeface="Microsoft Sans Serif" panose="020B0604020202020204" pitchFamily="34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Microsoft Sans Serif" panose="020B0604020202020204" pitchFamily="34" charset="0"/>
              </a:rPr>
              <a:t>设置多个视口显示不同迭代次数所生成的分形图形，加分</a:t>
            </a:r>
            <a:endParaRPr lang="zh-CN" altLang="zh-CN" sz="2400" b="1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2000"/>
                                        <p:tgtEl>
                                          <p:spTgt spid="97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2000"/>
                                        <p:tgtEl>
                                          <p:spTgt spid="97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2000"/>
                                        <p:tgtEl>
                                          <p:spTgt spid="97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000"/>
                                        <p:tgtEl>
                                          <p:spTgt spid="97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127875" cy="669925"/>
          </a:xfrm>
          <a:noFill/>
        </p:spPr>
        <p:txBody>
          <a:bodyPr/>
          <a:lstStyle/>
          <a:p>
            <a:pPr eaLnBrk="1" hangingPunct="1"/>
            <a:r>
              <a:rPr lang="zh-CN" altLang="en-US" sz="3800" dirty="0">
                <a:solidFill>
                  <a:schemeClr val="tx1"/>
                </a:solidFill>
              </a:rPr>
              <a:t>实验二 分形图形</a:t>
            </a:r>
            <a:endParaRPr lang="en-US" altLang="zh-CN" sz="3800" dirty="0">
              <a:solidFill>
                <a:schemeClr val="tx1"/>
              </a:solidFill>
            </a:endParaRPr>
          </a:p>
        </p:txBody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7848600" cy="42481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latin typeface="Microsoft Sans Serif" pitchFamily="34" charset="0"/>
              </a:rPr>
              <a:t>Reference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latin typeface="Microsoft Sans Serif" pitchFamily="34" charset="0"/>
              </a:rPr>
              <a:t>教材第二十三章</a:t>
            </a:r>
            <a:r>
              <a:rPr lang="en-US" altLang="zh-CN" sz="2400" b="1" dirty="0">
                <a:latin typeface="Microsoft Sans Serif" pitchFamily="34" charset="0"/>
              </a:rPr>
              <a:t>P.541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latin typeface="Microsoft Sans Serif" pitchFamily="34" charset="0"/>
              </a:rPr>
              <a:t> 《</a:t>
            </a:r>
            <a:r>
              <a:rPr lang="zh-CN" altLang="en-US" sz="2800" b="1" dirty="0">
                <a:latin typeface="Microsoft Sans Serif" panose="020B0604020202020204" pitchFamily="34" charset="0"/>
              </a:rPr>
              <a:t>计算机图形学实验指导书</a:t>
            </a:r>
            <a:r>
              <a:rPr lang="en-US" altLang="zh-CN" sz="2800" b="1" dirty="0">
                <a:latin typeface="Microsoft Sans Serif" panose="020B0604020202020204" pitchFamily="34" charset="0"/>
              </a:rPr>
              <a:t>v2.x》</a:t>
            </a:r>
            <a:r>
              <a:rPr lang="zh-CN" altLang="en-US" sz="2800" b="1" dirty="0">
                <a:latin typeface="Microsoft Sans Serif" panose="020B0604020202020204" pitchFamily="34" charset="0"/>
              </a:rPr>
              <a:t>实验九</a:t>
            </a:r>
            <a:endParaRPr lang="en-US" altLang="zh-CN" sz="2800" b="1" dirty="0">
              <a:latin typeface="Microsoft Sans Serif" panose="020B0604020202020204" pitchFamily="34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zh-CN" altLang="zh-CN" sz="2800" b="1" dirty="0">
              <a:latin typeface="Microsoft Sans Serif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3" grpId="0" build="p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4084</TotalTime>
  <Words>920</Words>
  <Application>Microsoft Office PowerPoint</Application>
  <PresentationFormat>全屏显示(4:3)</PresentationFormat>
  <Paragraphs>143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Arial</vt:lpstr>
      <vt:lpstr>Microsoft Sans Serif</vt:lpstr>
      <vt:lpstr>Tahoma</vt:lpstr>
      <vt:lpstr>Times New Roman</vt:lpstr>
      <vt:lpstr>Wingdings</vt:lpstr>
      <vt:lpstr>Blends</vt:lpstr>
      <vt:lpstr>计算机图形学实验</vt:lpstr>
      <vt:lpstr>实验安排</vt:lpstr>
      <vt:lpstr>实验安排</vt:lpstr>
      <vt:lpstr>实验环境</vt:lpstr>
      <vt:lpstr>实验环境</vt:lpstr>
      <vt:lpstr>实验环境</vt:lpstr>
      <vt:lpstr>实验一   三维图形绘制与变换</vt:lpstr>
      <vt:lpstr>实验一   三维图形绘制与变换</vt:lpstr>
      <vt:lpstr>实验一   三维图形绘制与变换</vt:lpstr>
      <vt:lpstr>实验一   三维图形绘制与变换</vt:lpstr>
      <vt:lpstr>实验一   三维图形绘制与变换</vt:lpstr>
      <vt:lpstr>实验一   三维图形绘制与变换</vt:lpstr>
      <vt:lpstr>实验一</vt:lpstr>
      <vt:lpstr>实验一</vt:lpstr>
      <vt:lpstr>实验一</vt:lpstr>
      <vt:lpstr>实验二 贝塞尔曲线</vt:lpstr>
      <vt:lpstr>实验二 贝塞尔曲线</vt:lpstr>
      <vt:lpstr>实验二 贝塞尔曲线</vt:lpstr>
      <vt:lpstr>实验二 分形图形</vt:lpstr>
      <vt:lpstr>实验二 分形图形</vt:lpstr>
      <vt:lpstr>实验二 分形图形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</dc:title>
  <dc:creator>Hua Yan</dc:creator>
  <cp:lastModifiedBy>Hua Yan</cp:lastModifiedBy>
  <cp:revision>299</cp:revision>
  <dcterms:created xsi:type="dcterms:W3CDTF">2008-02-19T06:25:54Z</dcterms:created>
  <dcterms:modified xsi:type="dcterms:W3CDTF">2025-10-29T13:15:57Z</dcterms:modified>
</cp:coreProperties>
</file>